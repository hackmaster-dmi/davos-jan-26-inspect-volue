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57" r:id="rId4"/>
    <p:sldId id="259" r:id="rId5"/>
    <p:sldId id="260" r:id="rId6"/>
    <p:sldId id="261" r:id="rId7"/>
    <p:sldId id="263" r:id="rId8"/>
    <p:sldId id="262" r:id="rId9"/>
    <p:sldId id="265" r:id="rId10"/>
    <p:sldId id="264" r:id="rId11"/>
    <p:sldId id="266" r:id="rId12"/>
    <p:sldId id="267" r:id="rId13"/>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2A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9DC2DB-EE8B-D142-9963-B83125FA6EE2}" v="53" dt="2026-01-22T10:59:32.078"/>
    <p1510:client id="{64EC07B5-91C7-BDD0-50EF-F0C8EF6D60FC}" v="56" dt="2026-01-22T10:58:19.8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94719"/>
  </p:normalViewPr>
  <p:slideViewPr>
    <p:cSldViewPr snapToGrid="0">
      <p:cViewPr>
        <p:scale>
          <a:sx n="113" d="100"/>
          <a:sy n="113" d="100"/>
        </p:scale>
        <p:origin x="368" y="10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0FA7FA-2109-DB49-A5B6-8B1703728DDE}" type="datetimeFigureOut">
              <a:rPr lang="en-CH" smtClean="0"/>
              <a:t>22.01.2026</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92759F-E7C8-124D-8337-43DE02916187}" type="slidenum">
              <a:rPr lang="en-CH" smtClean="0"/>
              <a:t>‹#›</a:t>
            </a:fld>
            <a:endParaRPr lang="en-CH"/>
          </a:p>
        </p:txBody>
      </p:sp>
    </p:spTree>
    <p:extLst>
      <p:ext uri="{BB962C8B-B14F-4D97-AF65-F5344CB8AC3E}">
        <p14:creationId xmlns:p14="http://schemas.microsoft.com/office/powerpoint/2010/main" val="3269150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What were the hot topic of this WEF, except the geopolitical tensions? I think the best thing is to ask the special guest directly:</a:t>
            </a:r>
          </a:p>
        </p:txBody>
      </p:sp>
      <p:sp>
        <p:nvSpPr>
          <p:cNvPr id="4" name="Slide Number Placeholder 3"/>
          <p:cNvSpPr>
            <a:spLocks noGrp="1"/>
          </p:cNvSpPr>
          <p:nvPr>
            <p:ph type="sldNum" sz="quarter" idx="5"/>
          </p:nvPr>
        </p:nvSpPr>
        <p:spPr/>
        <p:txBody>
          <a:bodyPr/>
          <a:lstStyle/>
          <a:p>
            <a:fld id="{5C92759F-E7C8-124D-8337-43DE02916187}" type="slidenum">
              <a:rPr lang="en-CH" smtClean="0"/>
              <a:t>2</a:t>
            </a:fld>
            <a:endParaRPr lang="en-CH"/>
          </a:p>
        </p:txBody>
      </p:sp>
    </p:spTree>
    <p:extLst>
      <p:ext uri="{BB962C8B-B14F-4D97-AF65-F5344CB8AC3E}">
        <p14:creationId xmlns:p14="http://schemas.microsoft.com/office/powerpoint/2010/main" val="1575318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As you saw, AI and energy were among the most discussed topics, and our challenge takes on that. Volue gave us access to their energy marked data, and we had to come up with an AI agentic tool to fetch the data and make it more accessible.</a:t>
            </a:r>
            <a:br>
              <a:rPr lang="en-CH" dirty="0"/>
            </a:br>
            <a:r>
              <a:rPr lang="en-CH" dirty="0"/>
              <a:t>Here is what it looks like:</a:t>
            </a:r>
          </a:p>
        </p:txBody>
      </p:sp>
      <p:sp>
        <p:nvSpPr>
          <p:cNvPr id="4" name="Slide Number Placeholder 3"/>
          <p:cNvSpPr>
            <a:spLocks noGrp="1"/>
          </p:cNvSpPr>
          <p:nvPr>
            <p:ph type="sldNum" sz="quarter" idx="5"/>
          </p:nvPr>
        </p:nvSpPr>
        <p:spPr/>
        <p:txBody>
          <a:bodyPr/>
          <a:lstStyle/>
          <a:p>
            <a:fld id="{5C92759F-E7C8-124D-8337-43DE02916187}" type="slidenum">
              <a:rPr lang="en-CH" smtClean="0"/>
              <a:t>3</a:t>
            </a:fld>
            <a:endParaRPr lang="en-CH"/>
          </a:p>
        </p:txBody>
      </p:sp>
    </p:spTree>
    <p:extLst>
      <p:ext uri="{BB962C8B-B14F-4D97-AF65-F5344CB8AC3E}">
        <p14:creationId xmlns:p14="http://schemas.microsoft.com/office/powerpoint/2010/main" val="981016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52AB7-7039-E503-F927-09D460D0F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08FCC-A090-7C67-64DD-060EBCA5E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6A91CF-7D13-08DC-C342-3DFC1E323C7D}"/>
              </a:ext>
            </a:extLst>
          </p:cNvPr>
          <p:cNvSpPr>
            <a:spLocks noGrp="1"/>
          </p:cNvSpPr>
          <p:nvPr>
            <p:ph type="body" idx="1"/>
          </p:nvPr>
        </p:nvSpPr>
        <p:spPr/>
        <p:txBody>
          <a:bodyPr/>
          <a:lstStyle/>
          <a:p>
            <a:r>
              <a:rPr lang="en-CH" dirty="0"/>
              <a:t>What were the hot topic of this WEF, except the geopolitical tensions? I think the best thing is to ask the special guest directly:</a:t>
            </a:r>
          </a:p>
        </p:txBody>
      </p:sp>
      <p:sp>
        <p:nvSpPr>
          <p:cNvPr id="4" name="Slide Number Placeholder 3">
            <a:extLst>
              <a:ext uri="{FF2B5EF4-FFF2-40B4-BE49-F238E27FC236}">
                <a16:creationId xmlns:a16="http://schemas.microsoft.com/office/drawing/2014/main" id="{758BE51F-0DF9-7393-81CF-0E6D5BBDB24F}"/>
              </a:ext>
            </a:extLst>
          </p:cNvPr>
          <p:cNvSpPr>
            <a:spLocks noGrp="1"/>
          </p:cNvSpPr>
          <p:nvPr>
            <p:ph type="sldNum" sz="quarter" idx="5"/>
          </p:nvPr>
        </p:nvSpPr>
        <p:spPr/>
        <p:txBody>
          <a:bodyPr/>
          <a:lstStyle/>
          <a:p>
            <a:fld id="{5C92759F-E7C8-124D-8337-43DE02916187}" type="slidenum">
              <a:rPr lang="en-CH" smtClean="0"/>
              <a:t>4</a:t>
            </a:fld>
            <a:endParaRPr lang="en-CH"/>
          </a:p>
        </p:txBody>
      </p:sp>
    </p:spTree>
    <p:extLst>
      <p:ext uri="{BB962C8B-B14F-4D97-AF65-F5344CB8AC3E}">
        <p14:creationId xmlns:p14="http://schemas.microsoft.com/office/powerpoint/2010/main" val="3668482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D283A-AF9E-8EE3-A019-3141F9FCC0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D7B10-F221-EDC1-5040-E2F5CFE52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CCD008-6CE9-EC9F-3C6C-3781135407F0}"/>
              </a:ext>
            </a:extLst>
          </p:cNvPr>
          <p:cNvSpPr>
            <a:spLocks noGrp="1"/>
          </p:cNvSpPr>
          <p:nvPr>
            <p:ph type="body" idx="1"/>
          </p:nvPr>
        </p:nvSpPr>
        <p:spPr/>
        <p:txBody>
          <a:bodyPr/>
          <a:lstStyle/>
          <a:p>
            <a:r>
              <a:rPr lang="en-CH" dirty="0"/>
              <a:t>What were the hot topic of this WEF, except the geopolitical tensions? I think the best thing is to ask the special guest directly:</a:t>
            </a:r>
          </a:p>
        </p:txBody>
      </p:sp>
      <p:sp>
        <p:nvSpPr>
          <p:cNvPr id="4" name="Slide Number Placeholder 3">
            <a:extLst>
              <a:ext uri="{FF2B5EF4-FFF2-40B4-BE49-F238E27FC236}">
                <a16:creationId xmlns:a16="http://schemas.microsoft.com/office/drawing/2014/main" id="{FD3E97AC-E1E7-C4B5-C34C-368BABC8F873}"/>
              </a:ext>
            </a:extLst>
          </p:cNvPr>
          <p:cNvSpPr>
            <a:spLocks noGrp="1"/>
          </p:cNvSpPr>
          <p:nvPr>
            <p:ph type="sldNum" sz="quarter" idx="5"/>
          </p:nvPr>
        </p:nvSpPr>
        <p:spPr/>
        <p:txBody>
          <a:bodyPr/>
          <a:lstStyle/>
          <a:p>
            <a:fld id="{5C92759F-E7C8-124D-8337-43DE02916187}" type="slidenum">
              <a:rPr lang="en-CH" smtClean="0"/>
              <a:t>5</a:t>
            </a:fld>
            <a:endParaRPr lang="en-CH"/>
          </a:p>
        </p:txBody>
      </p:sp>
    </p:spTree>
    <p:extLst>
      <p:ext uri="{BB962C8B-B14F-4D97-AF65-F5344CB8AC3E}">
        <p14:creationId xmlns:p14="http://schemas.microsoft.com/office/powerpoint/2010/main" val="556466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9D363-4A0B-154C-1F23-B6E40761D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04F1E-9A25-833F-9EEE-38AD806BD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34E06-950A-674D-7EE4-09552191849A}"/>
              </a:ext>
            </a:extLst>
          </p:cNvPr>
          <p:cNvSpPr>
            <a:spLocks noGrp="1"/>
          </p:cNvSpPr>
          <p:nvPr>
            <p:ph type="body" idx="1"/>
          </p:nvPr>
        </p:nvSpPr>
        <p:spPr/>
        <p:txBody>
          <a:bodyPr/>
          <a:lstStyle/>
          <a:p>
            <a:r>
              <a:rPr lang="en-CH" dirty="0"/>
              <a:t>What were the hot topic of this WEF, except the geopolitical tensions? I think the best thing is to ask the special guest directly:</a:t>
            </a:r>
          </a:p>
        </p:txBody>
      </p:sp>
      <p:sp>
        <p:nvSpPr>
          <p:cNvPr id="4" name="Slide Number Placeholder 3">
            <a:extLst>
              <a:ext uri="{FF2B5EF4-FFF2-40B4-BE49-F238E27FC236}">
                <a16:creationId xmlns:a16="http://schemas.microsoft.com/office/drawing/2014/main" id="{E6FBE429-5258-19FF-F893-6D7D88EDFF65}"/>
              </a:ext>
            </a:extLst>
          </p:cNvPr>
          <p:cNvSpPr>
            <a:spLocks noGrp="1"/>
          </p:cNvSpPr>
          <p:nvPr>
            <p:ph type="sldNum" sz="quarter" idx="5"/>
          </p:nvPr>
        </p:nvSpPr>
        <p:spPr/>
        <p:txBody>
          <a:bodyPr/>
          <a:lstStyle/>
          <a:p>
            <a:fld id="{5C92759F-E7C8-124D-8337-43DE02916187}" type="slidenum">
              <a:rPr lang="en-CH" smtClean="0"/>
              <a:t>6</a:t>
            </a:fld>
            <a:endParaRPr lang="en-CH"/>
          </a:p>
        </p:txBody>
      </p:sp>
    </p:spTree>
    <p:extLst>
      <p:ext uri="{BB962C8B-B14F-4D97-AF65-F5344CB8AC3E}">
        <p14:creationId xmlns:p14="http://schemas.microsoft.com/office/powerpoint/2010/main" val="595769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7C1D4-EF13-A8EC-0B07-F8F7A2F55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5EFA5-7EC6-89CB-3320-21B879FD0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5645B-9BDC-3165-3E0C-9A9BF4668883}"/>
              </a:ext>
            </a:extLst>
          </p:cNvPr>
          <p:cNvSpPr>
            <a:spLocks noGrp="1"/>
          </p:cNvSpPr>
          <p:nvPr>
            <p:ph type="body" idx="1"/>
          </p:nvPr>
        </p:nvSpPr>
        <p:spPr/>
        <p:txBody>
          <a:bodyPr/>
          <a:lstStyle/>
          <a:p>
            <a:r>
              <a:rPr lang="en-CH" dirty="0"/>
              <a:t>What were the hot topic of this WEF, except the geopolitical tensions? I think the best thing is to ask the special guest directly:</a:t>
            </a:r>
          </a:p>
        </p:txBody>
      </p:sp>
      <p:sp>
        <p:nvSpPr>
          <p:cNvPr id="4" name="Slide Number Placeholder 3">
            <a:extLst>
              <a:ext uri="{FF2B5EF4-FFF2-40B4-BE49-F238E27FC236}">
                <a16:creationId xmlns:a16="http://schemas.microsoft.com/office/drawing/2014/main" id="{8897CF7F-A0E0-B773-9F0D-386D02D71BA9}"/>
              </a:ext>
            </a:extLst>
          </p:cNvPr>
          <p:cNvSpPr>
            <a:spLocks noGrp="1"/>
          </p:cNvSpPr>
          <p:nvPr>
            <p:ph type="sldNum" sz="quarter" idx="5"/>
          </p:nvPr>
        </p:nvSpPr>
        <p:spPr/>
        <p:txBody>
          <a:bodyPr/>
          <a:lstStyle/>
          <a:p>
            <a:fld id="{5C92759F-E7C8-124D-8337-43DE02916187}" type="slidenum">
              <a:rPr lang="en-CH" smtClean="0"/>
              <a:t>7</a:t>
            </a:fld>
            <a:endParaRPr lang="en-CH"/>
          </a:p>
        </p:txBody>
      </p:sp>
    </p:spTree>
    <p:extLst>
      <p:ext uri="{BB962C8B-B14F-4D97-AF65-F5344CB8AC3E}">
        <p14:creationId xmlns:p14="http://schemas.microsoft.com/office/powerpoint/2010/main" val="3830604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6D0E1-8570-6B55-DBC3-643B96F7C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0E1D0-D249-5195-18CF-4F3ABDB66A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3F7D2-0AB5-1329-4EE4-612ACA1757EA}"/>
              </a:ext>
            </a:extLst>
          </p:cNvPr>
          <p:cNvSpPr>
            <a:spLocks noGrp="1"/>
          </p:cNvSpPr>
          <p:nvPr>
            <p:ph type="body" idx="1"/>
          </p:nvPr>
        </p:nvSpPr>
        <p:spPr/>
        <p:txBody>
          <a:bodyPr/>
          <a:lstStyle/>
          <a:p>
            <a:r>
              <a:rPr lang="en-CH" dirty="0"/>
              <a:t>What were the hot topic of this WEF, except the geopolitical tensions? I think the best thing is to ask the special guest directly:</a:t>
            </a:r>
          </a:p>
        </p:txBody>
      </p:sp>
      <p:sp>
        <p:nvSpPr>
          <p:cNvPr id="4" name="Slide Number Placeholder 3">
            <a:extLst>
              <a:ext uri="{FF2B5EF4-FFF2-40B4-BE49-F238E27FC236}">
                <a16:creationId xmlns:a16="http://schemas.microsoft.com/office/drawing/2014/main" id="{C5FC5137-A7CC-661C-9946-6E7DB3F54533}"/>
              </a:ext>
            </a:extLst>
          </p:cNvPr>
          <p:cNvSpPr>
            <a:spLocks noGrp="1"/>
          </p:cNvSpPr>
          <p:nvPr>
            <p:ph type="sldNum" sz="quarter" idx="5"/>
          </p:nvPr>
        </p:nvSpPr>
        <p:spPr/>
        <p:txBody>
          <a:bodyPr/>
          <a:lstStyle/>
          <a:p>
            <a:fld id="{5C92759F-E7C8-124D-8337-43DE02916187}" type="slidenum">
              <a:rPr lang="en-CH" smtClean="0"/>
              <a:t>8</a:t>
            </a:fld>
            <a:endParaRPr lang="en-CH"/>
          </a:p>
        </p:txBody>
      </p:sp>
    </p:spTree>
    <p:extLst>
      <p:ext uri="{BB962C8B-B14F-4D97-AF65-F5344CB8AC3E}">
        <p14:creationId xmlns:p14="http://schemas.microsoft.com/office/powerpoint/2010/main" val="85574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27DCD-669E-461C-174D-C2E448FCA9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51741-9B24-814F-E459-488F1905F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26A9AF-58B4-DB02-07F8-52B73E3B4D4A}"/>
              </a:ext>
            </a:extLst>
          </p:cNvPr>
          <p:cNvSpPr>
            <a:spLocks noGrp="1"/>
          </p:cNvSpPr>
          <p:nvPr>
            <p:ph type="body" idx="1"/>
          </p:nvPr>
        </p:nvSpPr>
        <p:spPr/>
        <p:txBody>
          <a:bodyPr/>
          <a:lstStyle/>
          <a:p>
            <a:r>
              <a:rPr lang="en-CH" dirty="0"/>
              <a:t>What were the hot topic of this WEF, except the geopolitical tensions? I think the best thing is to ask the special guest directly:</a:t>
            </a:r>
          </a:p>
        </p:txBody>
      </p:sp>
      <p:sp>
        <p:nvSpPr>
          <p:cNvPr id="4" name="Slide Number Placeholder 3">
            <a:extLst>
              <a:ext uri="{FF2B5EF4-FFF2-40B4-BE49-F238E27FC236}">
                <a16:creationId xmlns:a16="http://schemas.microsoft.com/office/drawing/2014/main" id="{880CFA0B-9234-90E4-8F62-F6E0008AB0D5}"/>
              </a:ext>
            </a:extLst>
          </p:cNvPr>
          <p:cNvSpPr>
            <a:spLocks noGrp="1"/>
          </p:cNvSpPr>
          <p:nvPr>
            <p:ph type="sldNum" sz="quarter" idx="5"/>
          </p:nvPr>
        </p:nvSpPr>
        <p:spPr/>
        <p:txBody>
          <a:bodyPr/>
          <a:lstStyle/>
          <a:p>
            <a:fld id="{5C92759F-E7C8-124D-8337-43DE02916187}" type="slidenum">
              <a:rPr lang="en-CH" smtClean="0"/>
              <a:t>9</a:t>
            </a:fld>
            <a:endParaRPr lang="en-CH"/>
          </a:p>
        </p:txBody>
      </p:sp>
    </p:spTree>
    <p:extLst>
      <p:ext uri="{BB962C8B-B14F-4D97-AF65-F5344CB8AC3E}">
        <p14:creationId xmlns:p14="http://schemas.microsoft.com/office/powerpoint/2010/main" val="631753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As you saw, AI and energy were among the most discussed topics, and our challenge takes on that. Volue gave us access to their energy marked data, and we had to come up with an AI agentic tool to fetch the data and make it more accessible.</a:t>
            </a:r>
            <a:br>
              <a:rPr lang="en-CH" dirty="0"/>
            </a:br>
            <a:r>
              <a:rPr lang="en-CH" dirty="0"/>
              <a:t>Here is what it looks like:</a:t>
            </a:r>
          </a:p>
        </p:txBody>
      </p:sp>
      <p:sp>
        <p:nvSpPr>
          <p:cNvPr id="4" name="Slide Number Placeholder 3"/>
          <p:cNvSpPr>
            <a:spLocks noGrp="1"/>
          </p:cNvSpPr>
          <p:nvPr>
            <p:ph type="sldNum" sz="quarter" idx="5"/>
          </p:nvPr>
        </p:nvSpPr>
        <p:spPr/>
        <p:txBody>
          <a:bodyPr/>
          <a:lstStyle/>
          <a:p>
            <a:fld id="{5C92759F-E7C8-124D-8337-43DE02916187}" type="slidenum">
              <a:rPr lang="en-CH" smtClean="0"/>
              <a:t>10</a:t>
            </a:fld>
            <a:endParaRPr lang="en-CH"/>
          </a:p>
        </p:txBody>
      </p:sp>
    </p:spTree>
    <p:extLst>
      <p:ext uri="{BB962C8B-B14F-4D97-AF65-F5344CB8AC3E}">
        <p14:creationId xmlns:p14="http://schemas.microsoft.com/office/powerpoint/2010/main" val="3938255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A39DB-7F92-8EAB-8DA2-0E146ADD3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45A29-7A89-4590-15A6-B8E96AD46B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9AA85B-64CE-291B-401F-F7F173913B4D}"/>
              </a:ext>
            </a:extLst>
          </p:cNvPr>
          <p:cNvSpPr>
            <a:spLocks noGrp="1"/>
          </p:cNvSpPr>
          <p:nvPr>
            <p:ph type="body" idx="1"/>
          </p:nvPr>
        </p:nvSpPr>
        <p:spPr/>
        <p:txBody>
          <a:bodyPr/>
          <a:lstStyle/>
          <a:p>
            <a:r>
              <a:rPr lang="en-CH" dirty="0"/>
              <a:t>What were the hot topic of this WEF, except the geopolitical tensions? I think the best thing is to ask the special guest directly:</a:t>
            </a:r>
          </a:p>
        </p:txBody>
      </p:sp>
      <p:sp>
        <p:nvSpPr>
          <p:cNvPr id="4" name="Slide Number Placeholder 3">
            <a:extLst>
              <a:ext uri="{FF2B5EF4-FFF2-40B4-BE49-F238E27FC236}">
                <a16:creationId xmlns:a16="http://schemas.microsoft.com/office/drawing/2014/main" id="{D381736E-0D29-B839-CFAA-D53BF8D0B57B}"/>
              </a:ext>
            </a:extLst>
          </p:cNvPr>
          <p:cNvSpPr>
            <a:spLocks noGrp="1"/>
          </p:cNvSpPr>
          <p:nvPr>
            <p:ph type="sldNum" sz="quarter" idx="5"/>
          </p:nvPr>
        </p:nvSpPr>
        <p:spPr/>
        <p:txBody>
          <a:bodyPr/>
          <a:lstStyle/>
          <a:p>
            <a:fld id="{5C92759F-E7C8-124D-8337-43DE02916187}" type="slidenum">
              <a:rPr lang="en-CH" smtClean="0"/>
              <a:t>11</a:t>
            </a:fld>
            <a:endParaRPr lang="en-CH"/>
          </a:p>
        </p:txBody>
      </p:sp>
    </p:spTree>
    <p:extLst>
      <p:ext uri="{BB962C8B-B14F-4D97-AF65-F5344CB8AC3E}">
        <p14:creationId xmlns:p14="http://schemas.microsoft.com/office/powerpoint/2010/main" val="3383711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32AC0-F9CD-02E5-5ABC-9364941B5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9C795-3FE7-E2CF-515D-C8BB484B1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34DBFA-6BA3-7B51-8D30-B41585AC48E2}"/>
              </a:ext>
            </a:extLst>
          </p:cNvPr>
          <p:cNvSpPr>
            <a:spLocks noGrp="1"/>
          </p:cNvSpPr>
          <p:nvPr>
            <p:ph type="body" idx="1"/>
          </p:nvPr>
        </p:nvSpPr>
        <p:spPr/>
        <p:txBody>
          <a:bodyPr/>
          <a:lstStyle/>
          <a:p>
            <a:r>
              <a:rPr lang="en-CH" dirty="0"/>
              <a:t>What were the hot topic of this WEF, except the geopolitical tensions? I think the best thing is to ask the special guest directly:</a:t>
            </a:r>
          </a:p>
        </p:txBody>
      </p:sp>
      <p:sp>
        <p:nvSpPr>
          <p:cNvPr id="4" name="Slide Number Placeholder 3">
            <a:extLst>
              <a:ext uri="{FF2B5EF4-FFF2-40B4-BE49-F238E27FC236}">
                <a16:creationId xmlns:a16="http://schemas.microsoft.com/office/drawing/2014/main" id="{6E87EFE1-0C1D-9843-BDAE-2E235A893C40}"/>
              </a:ext>
            </a:extLst>
          </p:cNvPr>
          <p:cNvSpPr>
            <a:spLocks noGrp="1"/>
          </p:cNvSpPr>
          <p:nvPr>
            <p:ph type="sldNum" sz="quarter" idx="5"/>
          </p:nvPr>
        </p:nvSpPr>
        <p:spPr/>
        <p:txBody>
          <a:bodyPr/>
          <a:lstStyle/>
          <a:p>
            <a:fld id="{5C92759F-E7C8-124D-8337-43DE02916187}" type="slidenum">
              <a:rPr lang="en-CH" smtClean="0"/>
              <a:t>12</a:t>
            </a:fld>
            <a:endParaRPr lang="en-CH"/>
          </a:p>
        </p:txBody>
      </p:sp>
    </p:spTree>
    <p:extLst>
      <p:ext uri="{BB962C8B-B14F-4D97-AF65-F5344CB8AC3E}">
        <p14:creationId xmlns:p14="http://schemas.microsoft.com/office/powerpoint/2010/main" val="2600563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F97FE-7FF8-0D36-6593-F6F67A7795E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CH"/>
          </a:p>
        </p:txBody>
      </p:sp>
      <p:sp>
        <p:nvSpPr>
          <p:cNvPr id="3" name="Subtitle 2">
            <a:extLst>
              <a:ext uri="{FF2B5EF4-FFF2-40B4-BE49-F238E27FC236}">
                <a16:creationId xmlns:a16="http://schemas.microsoft.com/office/drawing/2014/main" id="{6522C67E-F726-BB9D-CD89-EB96DD8F6D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CH"/>
          </a:p>
        </p:txBody>
      </p:sp>
      <p:sp>
        <p:nvSpPr>
          <p:cNvPr id="4" name="Date Placeholder 3">
            <a:extLst>
              <a:ext uri="{FF2B5EF4-FFF2-40B4-BE49-F238E27FC236}">
                <a16:creationId xmlns:a16="http://schemas.microsoft.com/office/drawing/2014/main" id="{2B3D4869-A143-02C0-D9A2-0F8D157ECA00}"/>
              </a:ext>
            </a:extLst>
          </p:cNvPr>
          <p:cNvSpPr>
            <a:spLocks noGrp="1"/>
          </p:cNvSpPr>
          <p:nvPr>
            <p:ph type="dt" sz="half" idx="10"/>
          </p:nvPr>
        </p:nvSpPr>
        <p:spPr/>
        <p:txBody>
          <a:bodyPr/>
          <a:lstStyle/>
          <a:p>
            <a:fld id="{BFA81073-719D-D447-BA32-4ED7B8BB2F0B}" type="datetimeFigureOut">
              <a:rPr lang="en-CH" smtClean="0"/>
              <a:t>22.01.2026</a:t>
            </a:fld>
            <a:endParaRPr lang="en-CH"/>
          </a:p>
        </p:txBody>
      </p:sp>
      <p:sp>
        <p:nvSpPr>
          <p:cNvPr id="5" name="Footer Placeholder 4">
            <a:extLst>
              <a:ext uri="{FF2B5EF4-FFF2-40B4-BE49-F238E27FC236}">
                <a16:creationId xmlns:a16="http://schemas.microsoft.com/office/drawing/2014/main" id="{14F08B36-B831-1AA1-8149-8D6C02FFC9D9}"/>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17A9B745-E013-3BBB-C070-E37A1A586F4A}"/>
              </a:ext>
            </a:extLst>
          </p:cNvPr>
          <p:cNvSpPr>
            <a:spLocks noGrp="1"/>
          </p:cNvSpPr>
          <p:nvPr>
            <p:ph type="sldNum" sz="quarter" idx="12"/>
          </p:nvPr>
        </p:nvSpPr>
        <p:spPr/>
        <p:txBody>
          <a:bodyPr/>
          <a:lstStyle/>
          <a:p>
            <a:fld id="{A0FFA094-5818-F541-81BA-4BD778F0A663}" type="slidenum">
              <a:rPr lang="en-CH" smtClean="0"/>
              <a:t>‹#›</a:t>
            </a:fld>
            <a:endParaRPr lang="en-CH"/>
          </a:p>
        </p:txBody>
      </p:sp>
    </p:spTree>
    <p:extLst>
      <p:ext uri="{BB962C8B-B14F-4D97-AF65-F5344CB8AC3E}">
        <p14:creationId xmlns:p14="http://schemas.microsoft.com/office/powerpoint/2010/main" val="91579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C4565-714D-C348-BFB5-CCA2E679AFDC}"/>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08DF8E90-2B2D-C44B-ECE2-6AF9B8B55EE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07438391-C77C-7DE7-A04B-D74449918856}"/>
              </a:ext>
            </a:extLst>
          </p:cNvPr>
          <p:cNvSpPr>
            <a:spLocks noGrp="1"/>
          </p:cNvSpPr>
          <p:nvPr>
            <p:ph type="dt" sz="half" idx="10"/>
          </p:nvPr>
        </p:nvSpPr>
        <p:spPr/>
        <p:txBody>
          <a:bodyPr/>
          <a:lstStyle/>
          <a:p>
            <a:fld id="{BFA81073-719D-D447-BA32-4ED7B8BB2F0B}" type="datetimeFigureOut">
              <a:rPr lang="en-CH" smtClean="0"/>
              <a:t>22.01.2026</a:t>
            </a:fld>
            <a:endParaRPr lang="en-CH"/>
          </a:p>
        </p:txBody>
      </p:sp>
      <p:sp>
        <p:nvSpPr>
          <p:cNvPr id="5" name="Footer Placeholder 4">
            <a:extLst>
              <a:ext uri="{FF2B5EF4-FFF2-40B4-BE49-F238E27FC236}">
                <a16:creationId xmlns:a16="http://schemas.microsoft.com/office/drawing/2014/main" id="{318CC765-CEAE-7BAF-855D-84123A696C85}"/>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5A9FF775-ED47-A385-2F42-BDA1AD10CDFA}"/>
              </a:ext>
            </a:extLst>
          </p:cNvPr>
          <p:cNvSpPr>
            <a:spLocks noGrp="1"/>
          </p:cNvSpPr>
          <p:nvPr>
            <p:ph type="sldNum" sz="quarter" idx="12"/>
          </p:nvPr>
        </p:nvSpPr>
        <p:spPr/>
        <p:txBody>
          <a:bodyPr/>
          <a:lstStyle/>
          <a:p>
            <a:fld id="{A0FFA094-5818-F541-81BA-4BD778F0A663}" type="slidenum">
              <a:rPr lang="en-CH" smtClean="0"/>
              <a:t>‹#›</a:t>
            </a:fld>
            <a:endParaRPr lang="en-CH"/>
          </a:p>
        </p:txBody>
      </p:sp>
    </p:spTree>
    <p:extLst>
      <p:ext uri="{BB962C8B-B14F-4D97-AF65-F5344CB8AC3E}">
        <p14:creationId xmlns:p14="http://schemas.microsoft.com/office/powerpoint/2010/main" val="3368638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7BC83-66FC-7BE2-15A4-113A63C58E2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CH"/>
          </a:p>
        </p:txBody>
      </p:sp>
      <p:sp>
        <p:nvSpPr>
          <p:cNvPr id="3" name="Text Placeholder 2">
            <a:extLst>
              <a:ext uri="{FF2B5EF4-FFF2-40B4-BE49-F238E27FC236}">
                <a16:creationId xmlns:a16="http://schemas.microsoft.com/office/drawing/2014/main" id="{1E3D2F3A-9D9F-1C19-8770-45EDE91C50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F5DDD23-8705-88B0-E2AB-2842CCBA6FC7}"/>
              </a:ext>
            </a:extLst>
          </p:cNvPr>
          <p:cNvSpPr>
            <a:spLocks noGrp="1"/>
          </p:cNvSpPr>
          <p:nvPr>
            <p:ph type="dt" sz="half" idx="10"/>
          </p:nvPr>
        </p:nvSpPr>
        <p:spPr/>
        <p:txBody>
          <a:bodyPr/>
          <a:lstStyle/>
          <a:p>
            <a:fld id="{BFA81073-719D-D447-BA32-4ED7B8BB2F0B}" type="datetimeFigureOut">
              <a:rPr lang="en-CH" smtClean="0"/>
              <a:t>22.01.2026</a:t>
            </a:fld>
            <a:endParaRPr lang="en-CH"/>
          </a:p>
        </p:txBody>
      </p:sp>
      <p:sp>
        <p:nvSpPr>
          <p:cNvPr id="5" name="Footer Placeholder 4">
            <a:extLst>
              <a:ext uri="{FF2B5EF4-FFF2-40B4-BE49-F238E27FC236}">
                <a16:creationId xmlns:a16="http://schemas.microsoft.com/office/drawing/2014/main" id="{CC0A453A-4B7E-05E3-7B85-122F3D97D8B5}"/>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46117CAE-CF5E-199A-102D-AEC6074A0787}"/>
              </a:ext>
            </a:extLst>
          </p:cNvPr>
          <p:cNvSpPr>
            <a:spLocks noGrp="1"/>
          </p:cNvSpPr>
          <p:nvPr>
            <p:ph type="sldNum" sz="quarter" idx="12"/>
          </p:nvPr>
        </p:nvSpPr>
        <p:spPr/>
        <p:txBody>
          <a:bodyPr/>
          <a:lstStyle/>
          <a:p>
            <a:fld id="{A0FFA094-5818-F541-81BA-4BD778F0A663}" type="slidenum">
              <a:rPr lang="en-CH" smtClean="0"/>
              <a:t>‹#›</a:t>
            </a:fld>
            <a:endParaRPr lang="en-CH"/>
          </a:p>
        </p:txBody>
      </p:sp>
    </p:spTree>
    <p:extLst>
      <p:ext uri="{BB962C8B-B14F-4D97-AF65-F5344CB8AC3E}">
        <p14:creationId xmlns:p14="http://schemas.microsoft.com/office/powerpoint/2010/main" val="1870330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5F548-A773-A1AF-341E-5F5632436159}"/>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0E4E20D1-828D-8F35-6F36-76037C78F5F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Content Placeholder 3">
            <a:extLst>
              <a:ext uri="{FF2B5EF4-FFF2-40B4-BE49-F238E27FC236}">
                <a16:creationId xmlns:a16="http://schemas.microsoft.com/office/drawing/2014/main" id="{1102662F-F04A-E89D-2B27-F5F83E76F73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Date Placeholder 4">
            <a:extLst>
              <a:ext uri="{FF2B5EF4-FFF2-40B4-BE49-F238E27FC236}">
                <a16:creationId xmlns:a16="http://schemas.microsoft.com/office/drawing/2014/main" id="{F1526ABB-6921-B997-DCD8-F5E5EB0AB361}"/>
              </a:ext>
            </a:extLst>
          </p:cNvPr>
          <p:cNvSpPr>
            <a:spLocks noGrp="1"/>
          </p:cNvSpPr>
          <p:nvPr>
            <p:ph type="dt" sz="half" idx="10"/>
          </p:nvPr>
        </p:nvSpPr>
        <p:spPr/>
        <p:txBody>
          <a:bodyPr/>
          <a:lstStyle/>
          <a:p>
            <a:fld id="{BFA81073-719D-D447-BA32-4ED7B8BB2F0B}" type="datetimeFigureOut">
              <a:rPr lang="en-CH" smtClean="0"/>
              <a:t>22.01.2026</a:t>
            </a:fld>
            <a:endParaRPr lang="en-CH"/>
          </a:p>
        </p:txBody>
      </p:sp>
      <p:sp>
        <p:nvSpPr>
          <p:cNvPr id="6" name="Footer Placeholder 5">
            <a:extLst>
              <a:ext uri="{FF2B5EF4-FFF2-40B4-BE49-F238E27FC236}">
                <a16:creationId xmlns:a16="http://schemas.microsoft.com/office/drawing/2014/main" id="{A0BC4253-EFA1-D101-7A50-D40DDC4444FC}"/>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3EF1959B-58EB-041C-3F50-0F9EDF2ED6A9}"/>
              </a:ext>
            </a:extLst>
          </p:cNvPr>
          <p:cNvSpPr>
            <a:spLocks noGrp="1"/>
          </p:cNvSpPr>
          <p:nvPr>
            <p:ph type="sldNum" sz="quarter" idx="12"/>
          </p:nvPr>
        </p:nvSpPr>
        <p:spPr/>
        <p:txBody>
          <a:bodyPr/>
          <a:lstStyle/>
          <a:p>
            <a:fld id="{A0FFA094-5818-F541-81BA-4BD778F0A663}" type="slidenum">
              <a:rPr lang="en-CH" smtClean="0"/>
              <a:t>‹#›</a:t>
            </a:fld>
            <a:endParaRPr lang="en-CH"/>
          </a:p>
        </p:txBody>
      </p:sp>
    </p:spTree>
    <p:extLst>
      <p:ext uri="{BB962C8B-B14F-4D97-AF65-F5344CB8AC3E}">
        <p14:creationId xmlns:p14="http://schemas.microsoft.com/office/powerpoint/2010/main" val="2411818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E4F5D-9ECE-D7BA-6391-A788CE2295B7}"/>
              </a:ext>
            </a:extLst>
          </p:cNvPr>
          <p:cNvSpPr>
            <a:spLocks noGrp="1"/>
          </p:cNvSpPr>
          <p:nvPr>
            <p:ph type="title"/>
          </p:nvPr>
        </p:nvSpPr>
        <p:spPr>
          <a:xfrm>
            <a:off x="839788" y="365125"/>
            <a:ext cx="10515600" cy="1325563"/>
          </a:xfrm>
        </p:spPr>
        <p:txBody>
          <a:bodyPr/>
          <a:lstStyle/>
          <a:p>
            <a:r>
              <a:rPr lang="en-GB"/>
              <a:t>Click to edit Master title style</a:t>
            </a:r>
            <a:endParaRPr lang="en-CH"/>
          </a:p>
        </p:txBody>
      </p:sp>
      <p:sp>
        <p:nvSpPr>
          <p:cNvPr id="3" name="Text Placeholder 2">
            <a:extLst>
              <a:ext uri="{FF2B5EF4-FFF2-40B4-BE49-F238E27FC236}">
                <a16:creationId xmlns:a16="http://schemas.microsoft.com/office/drawing/2014/main" id="{61536CB7-FE65-D026-F43E-E3595825A7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A55C1A3-DCF7-6154-B472-23006216EC0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Text Placeholder 4">
            <a:extLst>
              <a:ext uri="{FF2B5EF4-FFF2-40B4-BE49-F238E27FC236}">
                <a16:creationId xmlns:a16="http://schemas.microsoft.com/office/drawing/2014/main" id="{B06B32C1-4040-194D-524A-ABD4480BE8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AFAB4D9-3553-5B96-97A9-91E40A47478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7" name="Date Placeholder 6">
            <a:extLst>
              <a:ext uri="{FF2B5EF4-FFF2-40B4-BE49-F238E27FC236}">
                <a16:creationId xmlns:a16="http://schemas.microsoft.com/office/drawing/2014/main" id="{397F7174-EF8A-C27D-EF90-F8525F145B53}"/>
              </a:ext>
            </a:extLst>
          </p:cNvPr>
          <p:cNvSpPr>
            <a:spLocks noGrp="1"/>
          </p:cNvSpPr>
          <p:nvPr>
            <p:ph type="dt" sz="half" idx="10"/>
          </p:nvPr>
        </p:nvSpPr>
        <p:spPr/>
        <p:txBody>
          <a:bodyPr/>
          <a:lstStyle/>
          <a:p>
            <a:fld id="{BFA81073-719D-D447-BA32-4ED7B8BB2F0B}" type="datetimeFigureOut">
              <a:rPr lang="en-CH" smtClean="0"/>
              <a:t>22.01.2026</a:t>
            </a:fld>
            <a:endParaRPr lang="en-CH"/>
          </a:p>
        </p:txBody>
      </p:sp>
      <p:sp>
        <p:nvSpPr>
          <p:cNvPr id="8" name="Footer Placeholder 7">
            <a:extLst>
              <a:ext uri="{FF2B5EF4-FFF2-40B4-BE49-F238E27FC236}">
                <a16:creationId xmlns:a16="http://schemas.microsoft.com/office/drawing/2014/main" id="{FF827203-77A2-EF19-4CFC-EBC505F101A4}"/>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39E73FEE-53B7-BCCC-FCBE-554EB7DBAE9A}"/>
              </a:ext>
            </a:extLst>
          </p:cNvPr>
          <p:cNvSpPr>
            <a:spLocks noGrp="1"/>
          </p:cNvSpPr>
          <p:nvPr>
            <p:ph type="sldNum" sz="quarter" idx="12"/>
          </p:nvPr>
        </p:nvSpPr>
        <p:spPr/>
        <p:txBody>
          <a:bodyPr/>
          <a:lstStyle/>
          <a:p>
            <a:fld id="{A0FFA094-5818-F541-81BA-4BD778F0A663}" type="slidenum">
              <a:rPr lang="en-CH" smtClean="0"/>
              <a:t>‹#›</a:t>
            </a:fld>
            <a:endParaRPr lang="en-CH"/>
          </a:p>
        </p:txBody>
      </p:sp>
    </p:spTree>
    <p:extLst>
      <p:ext uri="{BB962C8B-B14F-4D97-AF65-F5344CB8AC3E}">
        <p14:creationId xmlns:p14="http://schemas.microsoft.com/office/powerpoint/2010/main" val="1813582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AA71F-1331-E9C6-E096-BF749D4AF2DA}"/>
              </a:ext>
            </a:extLst>
          </p:cNvPr>
          <p:cNvSpPr>
            <a:spLocks noGrp="1"/>
          </p:cNvSpPr>
          <p:nvPr>
            <p:ph type="title"/>
          </p:nvPr>
        </p:nvSpPr>
        <p:spPr/>
        <p:txBody>
          <a:bodyPr/>
          <a:lstStyle/>
          <a:p>
            <a:r>
              <a:rPr lang="en-GB"/>
              <a:t>Click to edit Master title style</a:t>
            </a:r>
            <a:endParaRPr lang="en-CH"/>
          </a:p>
        </p:txBody>
      </p:sp>
      <p:sp>
        <p:nvSpPr>
          <p:cNvPr id="3" name="Date Placeholder 2">
            <a:extLst>
              <a:ext uri="{FF2B5EF4-FFF2-40B4-BE49-F238E27FC236}">
                <a16:creationId xmlns:a16="http://schemas.microsoft.com/office/drawing/2014/main" id="{F51CF2D4-39BE-A5DB-990D-F5F2DD2DD587}"/>
              </a:ext>
            </a:extLst>
          </p:cNvPr>
          <p:cNvSpPr>
            <a:spLocks noGrp="1"/>
          </p:cNvSpPr>
          <p:nvPr>
            <p:ph type="dt" sz="half" idx="10"/>
          </p:nvPr>
        </p:nvSpPr>
        <p:spPr/>
        <p:txBody>
          <a:bodyPr/>
          <a:lstStyle/>
          <a:p>
            <a:fld id="{BFA81073-719D-D447-BA32-4ED7B8BB2F0B}" type="datetimeFigureOut">
              <a:rPr lang="en-CH" smtClean="0"/>
              <a:t>22.01.2026</a:t>
            </a:fld>
            <a:endParaRPr lang="en-CH"/>
          </a:p>
        </p:txBody>
      </p:sp>
      <p:sp>
        <p:nvSpPr>
          <p:cNvPr id="4" name="Footer Placeholder 3">
            <a:extLst>
              <a:ext uri="{FF2B5EF4-FFF2-40B4-BE49-F238E27FC236}">
                <a16:creationId xmlns:a16="http://schemas.microsoft.com/office/drawing/2014/main" id="{BE80F583-8995-1063-FF7A-F48160E7A188}"/>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29D2FE27-677C-2E41-E4B4-6AB3194BEF09}"/>
              </a:ext>
            </a:extLst>
          </p:cNvPr>
          <p:cNvSpPr>
            <a:spLocks noGrp="1"/>
          </p:cNvSpPr>
          <p:nvPr>
            <p:ph type="sldNum" sz="quarter" idx="12"/>
          </p:nvPr>
        </p:nvSpPr>
        <p:spPr/>
        <p:txBody>
          <a:bodyPr/>
          <a:lstStyle/>
          <a:p>
            <a:fld id="{A0FFA094-5818-F541-81BA-4BD778F0A663}" type="slidenum">
              <a:rPr lang="en-CH" smtClean="0"/>
              <a:t>‹#›</a:t>
            </a:fld>
            <a:endParaRPr lang="en-CH"/>
          </a:p>
        </p:txBody>
      </p:sp>
    </p:spTree>
    <p:extLst>
      <p:ext uri="{BB962C8B-B14F-4D97-AF65-F5344CB8AC3E}">
        <p14:creationId xmlns:p14="http://schemas.microsoft.com/office/powerpoint/2010/main" val="4255758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A44E72-00C9-E4A0-1C65-553B9DDC35BD}"/>
              </a:ext>
            </a:extLst>
          </p:cNvPr>
          <p:cNvSpPr>
            <a:spLocks noGrp="1"/>
          </p:cNvSpPr>
          <p:nvPr>
            <p:ph type="dt" sz="half" idx="10"/>
          </p:nvPr>
        </p:nvSpPr>
        <p:spPr/>
        <p:txBody>
          <a:bodyPr/>
          <a:lstStyle/>
          <a:p>
            <a:fld id="{BFA81073-719D-D447-BA32-4ED7B8BB2F0B}" type="datetimeFigureOut">
              <a:rPr lang="en-CH" smtClean="0"/>
              <a:t>22.01.2026</a:t>
            </a:fld>
            <a:endParaRPr lang="en-CH"/>
          </a:p>
        </p:txBody>
      </p:sp>
      <p:sp>
        <p:nvSpPr>
          <p:cNvPr id="3" name="Footer Placeholder 2">
            <a:extLst>
              <a:ext uri="{FF2B5EF4-FFF2-40B4-BE49-F238E27FC236}">
                <a16:creationId xmlns:a16="http://schemas.microsoft.com/office/drawing/2014/main" id="{0736B01A-2387-4C57-CBCC-E045F2903E41}"/>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9FBFA073-FC09-38B2-1385-E7D26D25AF3D}"/>
              </a:ext>
            </a:extLst>
          </p:cNvPr>
          <p:cNvSpPr>
            <a:spLocks noGrp="1"/>
          </p:cNvSpPr>
          <p:nvPr>
            <p:ph type="sldNum" sz="quarter" idx="12"/>
          </p:nvPr>
        </p:nvSpPr>
        <p:spPr/>
        <p:txBody>
          <a:bodyPr/>
          <a:lstStyle/>
          <a:p>
            <a:fld id="{A0FFA094-5818-F541-81BA-4BD778F0A663}" type="slidenum">
              <a:rPr lang="en-CH" smtClean="0"/>
              <a:t>‹#›</a:t>
            </a:fld>
            <a:endParaRPr lang="en-CH"/>
          </a:p>
        </p:txBody>
      </p:sp>
    </p:spTree>
    <p:extLst>
      <p:ext uri="{BB962C8B-B14F-4D97-AF65-F5344CB8AC3E}">
        <p14:creationId xmlns:p14="http://schemas.microsoft.com/office/powerpoint/2010/main" val="946022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7B5ED-AF51-1989-ADA5-C7D113D1587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Content Placeholder 2">
            <a:extLst>
              <a:ext uri="{FF2B5EF4-FFF2-40B4-BE49-F238E27FC236}">
                <a16:creationId xmlns:a16="http://schemas.microsoft.com/office/drawing/2014/main" id="{B978E91A-F2E4-4C76-AF36-0CFAAEE238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Text Placeholder 3">
            <a:extLst>
              <a:ext uri="{FF2B5EF4-FFF2-40B4-BE49-F238E27FC236}">
                <a16:creationId xmlns:a16="http://schemas.microsoft.com/office/drawing/2014/main" id="{0BD7C076-BAEF-79FD-DD27-ADE720C646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47AAE09-1ED1-63D4-E41E-BA840619C3BB}"/>
              </a:ext>
            </a:extLst>
          </p:cNvPr>
          <p:cNvSpPr>
            <a:spLocks noGrp="1"/>
          </p:cNvSpPr>
          <p:nvPr>
            <p:ph type="dt" sz="half" idx="10"/>
          </p:nvPr>
        </p:nvSpPr>
        <p:spPr/>
        <p:txBody>
          <a:bodyPr/>
          <a:lstStyle/>
          <a:p>
            <a:fld id="{BFA81073-719D-D447-BA32-4ED7B8BB2F0B}" type="datetimeFigureOut">
              <a:rPr lang="en-CH" smtClean="0"/>
              <a:t>22.01.2026</a:t>
            </a:fld>
            <a:endParaRPr lang="en-CH"/>
          </a:p>
        </p:txBody>
      </p:sp>
      <p:sp>
        <p:nvSpPr>
          <p:cNvPr id="6" name="Footer Placeholder 5">
            <a:extLst>
              <a:ext uri="{FF2B5EF4-FFF2-40B4-BE49-F238E27FC236}">
                <a16:creationId xmlns:a16="http://schemas.microsoft.com/office/drawing/2014/main" id="{50BF0553-6773-43E4-7D99-BAE558A9E2ED}"/>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9FA4AC74-8912-46F1-C6E1-C13B2F1D03AD}"/>
              </a:ext>
            </a:extLst>
          </p:cNvPr>
          <p:cNvSpPr>
            <a:spLocks noGrp="1"/>
          </p:cNvSpPr>
          <p:nvPr>
            <p:ph type="sldNum" sz="quarter" idx="12"/>
          </p:nvPr>
        </p:nvSpPr>
        <p:spPr/>
        <p:txBody>
          <a:bodyPr/>
          <a:lstStyle/>
          <a:p>
            <a:fld id="{A0FFA094-5818-F541-81BA-4BD778F0A663}" type="slidenum">
              <a:rPr lang="en-CH" smtClean="0"/>
              <a:t>‹#›</a:t>
            </a:fld>
            <a:endParaRPr lang="en-CH"/>
          </a:p>
        </p:txBody>
      </p:sp>
    </p:spTree>
    <p:extLst>
      <p:ext uri="{BB962C8B-B14F-4D97-AF65-F5344CB8AC3E}">
        <p14:creationId xmlns:p14="http://schemas.microsoft.com/office/powerpoint/2010/main" val="256374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69BE4-0CAB-AA34-8F59-3A9AC2B65AC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Picture Placeholder 2">
            <a:extLst>
              <a:ext uri="{FF2B5EF4-FFF2-40B4-BE49-F238E27FC236}">
                <a16:creationId xmlns:a16="http://schemas.microsoft.com/office/drawing/2014/main" id="{F55E983D-A35E-AF58-9FE4-065DE4A722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0DC2DF34-B99D-B8BB-9951-CE8F734595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2FE6716-30E0-0EFD-3314-B982581AFF41}"/>
              </a:ext>
            </a:extLst>
          </p:cNvPr>
          <p:cNvSpPr>
            <a:spLocks noGrp="1"/>
          </p:cNvSpPr>
          <p:nvPr>
            <p:ph type="dt" sz="half" idx="10"/>
          </p:nvPr>
        </p:nvSpPr>
        <p:spPr/>
        <p:txBody>
          <a:bodyPr/>
          <a:lstStyle/>
          <a:p>
            <a:fld id="{BFA81073-719D-D447-BA32-4ED7B8BB2F0B}" type="datetimeFigureOut">
              <a:rPr lang="en-CH" smtClean="0"/>
              <a:t>22.01.2026</a:t>
            </a:fld>
            <a:endParaRPr lang="en-CH"/>
          </a:p>
        </p:txBody>
      </p:sp>
      <p:sp>
        <p:nvSpPr>
          <p:cNvPr id="6" name="Footer Placeholder 5">
            <a:extLst>
              <a:ext uri="{FF2B5EF4-FFF2-40B4-BE49-F238E27FC236}">
                <a16:creationId xmlns:a16="http://schemas.microsoft.com/office/drawing/2014/main" id="{7EFD31DD-2D97-4EE6-9107-1A9BD5CB0F95}"/>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193284CE-4D47-5A2B-EA57-3273271706BD}"/>
              </a:ext>
            </a:extLst>
          </p:cNvPr>
          <p:cNvSpPr>
            <a:spLocks noGrp="1"/>
          </p:cNvSpPr>
          <p:nvPr>
            <p:ph type="sldNum" sz="quarter" idx="12"/>
          </p:nvPr>
        </p:nvSpPr>
        <p:spPr/>
        <p:txBody>
          <a:bodyPr/>
          <a:lstStyle/>
          <a:p>
            <a:fld id="{A0FFA094-5818-F541-81BA-4BD778F0A663}" type="slidenum">
              <a:rPr lang="en-CH" smtClean="0"/>
              <a:t>‹#›</a:t>
            </a:fld>
            <a:endParaRPr lang="en-CH"/>
          </a:p>
        </p:txBody>
      </p:sp>
    </p:spTree>
    <p:extLst>
      <p:ext uri="{BB962C8B-B14F-4D97-AF65-F5344CB8AC3E}">
        <p14:creationId xmlns:p14="http://schemas.microsoft.com/office/powerpoint/2010/main" val="643357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30BDA-2C25-91D1-F620-CA21BA4ADFC8}"/>
              </a:ext>
            </a:extLst>
          </p:cNvPr>
          <p:cNvSpPr>
            <a:spLocks noGrp="1"/>
          </p:cNvSpPr>
          <p:nvPr>
            <p:ph type="title"/>
          </p:nvPr>
        </p:nvSpPr>
        <p:spPr/>
        <p:txBody>
          <a:bodyPr/>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1396844E-4B04-02C9-D9AF-27C06B9C0E1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B1A23CFD-C4FB-7C94-9409-9D185B676493}"/>
              </a:ext>
            </a:extLst>
          </p:cNvPr>
          <p:cNvSpPr>
            <a:spLocks noGrp="1"/>
          </p:cNvSpPr>
          <p:nvPr>
            <p:ph type="dt" sz="half" idx="10"/>
          </p:nvPr>
        </p:nvSpPr>
        <p:spPr/>
        <p:txBody>
          <a:bodyPr/>
          <a:lstStyle/>
          <a:p>
            <a:fld id="{BFA81073-719D-D447-BA32-4ED7B8BB2F0B}" type="datetimeFigureOut">
              <a:rPr lang="en-CH" smtClean="0"/>
              <a:t>22.01.2026</a:t>
            </a:fld>
            <a:endParaRPr lang="en-CH"/>
          </a:p>
        </p:txBody>
      </p:sp>
      <p:sp>
        <p:nvSpPr>
          <p:cNvPr id="5" name="Footer Placeholder 4">
            <a:extLst>
              <a:ext uri="{FF2B5EF4-FFF2-40B4-BE49-F238E27FC236}">
                <a16:creationId xmlns:a16="http://schemas.microsoft.com/office/drawing/2014/main" id="{17BB543B-C208-B1F8-C5C6-7C3255031CA2}"/>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258FCB63-38B5-E0C0-929B-61ACB4689B99}"/>
              </a:ext>
            </a:extLst>
          </p:cNvPr>
          <p:cNvSpPr>
            <a:spLocks noGrp="1"/>
          </p:cNvSpPr>
          <p:nvPr>
            <p:ph type="sldNum" sz="quarter" idx="12"/>
          </p:nvPr>
        </p:nvSpPr>
        <p:spPr/>
        <p:txBody>
          <a:bodyPr/>
          <a:lstStyle/>
          <a:p>
            <a:fld id="{A0FFA094-5818-F541-81BA-4BD778F0A663}" type="slidenum">
              <a:rPr lang="en-CH" smtClean="0"/>
              <a:t>‹#›</a:t>
            </a:fld>
            <a:endParaRPr lang="en-CH"/>
          </a:p>
        </p:txBody>
      </p:sp>
    </p:spTree>
    <p:extLst>
      <p:ext uri="{BB962C8B-B14F-4D97-AF65-F5344CB8AC3E}">
        <p14:creationId xmlns:p14="http://schemas.microsoft.com/office/powerpoint/2010/main" val="2939887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B72DC1-D8CB-A6F1-CA0E-82D97E9BA52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28C65FBA-1CF5-DD67-9C85-9C423F1906D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479628DF-FF06-EF6C-4FD2-97F191E8263E}"/>
              </a:ext>
            </a:extLst>
          </p:cNvPr>
          <p:cNvSpPr>
            <a:spLocks noGrp="1"/>
          </p:cNvSpPr>
          <p:nvPr>
            <p:ph type="dt" sz="half" idx="10"/>
          </p:nvPr>
        </p:nvSpPr>
        <p:spPr/>
        <p:txBody>
          <a:bodyPr/>
          <a:lstStyle/>
          <a:p>
            <a:fld id="{BFA81073-719D-D447-BA32-4ED7B8BB2F0B}" type="datetimeFigureOut">
              <a:rPr lang="en-CH" smtClean="0"/>
              <a:t>22.01.2026</a:t>
            </a:fld>
            <a:endParaRPr lang="en-CH"/>
          </a:p>
        </p:txBody>
      </p:sp>
      <p:sp>
        <p:nvSpPr>
          <p:cNvPr id="5" name="Footer Placeholder 4">
            <a:extLst>
              <a:ext uri="{FF2B5EF4-FFF2-40B4-BE49-F238E27FC236}">
                <a16:creationId xmlns:a16="http://schemas.microsoft.com/office/drawing/2014/main" id="{F5293218-B076-59D8-19BE-F2161D785BF6}"/>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B758E1D5-EC47-6993-0E31-4630574E66B4}"/>
              </a:ext>
            </a:extLst>
          </p:cNvPr>
          <p:cNvSpPr>
            <a:spLocks noGrp="1"/>
          </p:cNvSpPr>
          <p:nvPr>
            <p:ph type="sldNum" sz="quarter" idx="12"/>
          </p:nvPr>
        </p:nvSpPr>
        <p:spPr/>
        <p:txBody>
          <a:bodyPr/>
          <a:lstStyle/>
          <a:p>
            <a:fld id="{A0FFA094-5818-F541-81BA-4BD778F0A663}" type="slidenum">
              <a:rPr lang="en-CH" smtClean="0"/>
              <a:t>‹#›</a:t>
            </a:fld>
            <a:endParaRPr lang="en-CH"/>
          </a:p>
        </p:txBody>
      </p:sp>
    </p:spTree>
    <p:extLst>
      <p:ext uri="{BB962C8B-B14F-4D97-AF65-F5344CB8AC3E}">
        <p14:creationId xmlns:p14="http://schemas.microsoft.com/office/powerpoint/2010/main" val="1479884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C93693-825F-4B6C-94B0-4CFA408BE4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CH"/>
          </a:p>
        </p:txBody>
      </p:sp>
      <p:sp>
        <p:nvSpPr>
          <p:cNvPr id="3" name="Text Placeholder 2">
            <a:extLst>
              <a:ext uri="{FF2B5EF4-FFF2-40B4-BE49-F238E27FC236}">
                <a16:creationId xmlns:a16="http://schemas.microsoft.com/office/drawing/2014/main" id="{A71A9D57-4480-7CE2-7CF6-B6ECDDE33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73567CE4-37AE-C83F-6FAA-3BD0E4FD92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A81073-719D-D447-BA32-4ED7B8BB2F0B}" type="datetimeFigureOut">
              <a:rPr lang="en-CH" smtClean="0"/>
              <a:t>22.01.2026</a:t>
            </a:fld>
            <a:endParaRPr lang="en-CH"/>
          </a:p>
        </p:txBody>
      </p:sp>
      <p:sp>
        <p:nvSpPr>
          <p:cNvPr id="5" name="Footer Placeholder 4">
            <a:extLst>
              <a:ext uri="{FF2B5EF4-FFF2-40B4-BE49-F238E27FC236}">
                <a16:creationId xmlns:a16="http://schemas.microsoft.com/office/drawing/2014/main" id="{80D4C582-24C4-9705-B375-59DE1695C5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H"/>
          </a:p>
        </p:txBody>
      </p:sp>
      <p:sp>
        <p:nvSpPr>
          <p:cNvPr id="6" name="Slide Number Placeholder 5">
            <a:extLst>
              <a:ext uri="{FF2B5EF4-FFF2-40B4-BE49-F238E27FC236}">
                <a16:creationId xmlns:a16="http://schemas.microsoft.com/office/drawing/2014/main" id="{52F2CF1E-E5C5-0F05-7C00-A61B61CDC2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FFA094-5818-F541-81BA-4BD778F0A663}" type="slidenum">
              <a:rPr lang="en-CH" smtClean="0"/>
              <a:t>‹#›</a:t>
            </a:fld>
            <a:endParaRPr lang="en-CH"/>
          </a:p>
        </p:txBody>
      </p:sp>
    </p:spTree>
    <p:extLst>
      <p:ext uri="{BB962C8B-B14F-4D97-AF65-F5344CB8AC3E}">
        <p14:creationId xmlns:p14="http://schemas.microsoft.com/office/powerpoint/2010/main" val="2036213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9.png"/><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0B52A-22DC-9978-972F-167049001179}"/>
              </a:ext>
            </a:extLst>
          </p:cNvPr>
          <p:cNvSpPr>
            <a:spLocks noGrp="1"/>
          </p:cNvSpPr>
          <p:nvPr>
            <p:ph type="ctrTitle"/>
          </p:nvPr>
        </p:nvSpPr>
        <p:spPr/>
        <p:txBody>
          <a:bodyPr>
            <a:normAutofit/>
          </a:bodyPr>
          <a:lstStyle/>
          <a:p>
            <a:r>
              <a:rPr lang="en-CH" sz="7200" dirty="0">
                <a:solidFill>
                  <a:schemeClr val="bg1"/>
                </a:solidFill>
              </a:rPr>
              <a:t>ENERGY MARKET </a:t>
            </a:r>
            <a:br>
              <a:rPr lang="en-CH" sz="7200" dirty="0">
                <a:solidFill>
                  <a:schemeClr val="bg1"/>
                </a:solidFill>
              </a:rPr>
            </a:br>
            <a:r>
              <a:rPr lang="en-CH" sz="7200" dirty="0">
                <a:solidFill>
                  <a:schemeClr val="bg1"/>
                </a:solidFill>
              </a:rPr>
              <a:t>SIGNAL INTELLIGECE</a:t>
            </a:r>
          </a:p>
        </p:txBody>
      </p:sp>
      <p:sp>
        <p:nvSpPr>
          <p:cNvPr id="3" name="Subtitle 2">
            <a:extLst>
              <a:ext uri="{FF2B5EF4-FFF2-40B4-BE49-F238E27FC236}">
                <a16:creationId xmlns:a16="http://schemas.microsoft.com/office/drawing/2014/main" id="{2048A743-B3CD-B26A-7B8E-544D6DD6E6FD}"/>
              </a:ext>
            </a:extLst>
          </p:cNvPr>
          <p:cNvSpPr>
            <a:spLocks noGrp="1"/>
          </p:cNvSpPr>
          <p:nvPr>
            <p:ph type="subTitle" idx="1"/>
          </p:nvPr>
        </p:nvSpPr>
        <p:spPr/>
        <p:txBody>
          <a:bodyPr>
            <a:normAutofit/>
          </a:bodyPr>
          <a:lstStyle/>
          <a:p>
            <a:r>
              <a:rPr lang="en-CH" sz="3200" dirty="0">
                <a:solidFill>
                  <a:schemeClr val="bg1"/>
                </a:solidFill>
              </a:rPr>
              <a:t>By Team </a:t>
            </a:r>
            <a:r>
              <a:rPr lang="en-CH" sz="3200" b="1" dirty="0">
                <a:solidFill>
                  <a:schemeClr val="bg1"/>
                </a:solidFill>
              </a:rPr>
              <a:t>INSPECT</a:t>
            </a:r>
          </a:p>
        </p:txBody>
      </p:sp>
      <p:pic>
        <p:nvPicPr>
          <p:cNvPr id="11" name="Picture 2" descr="ENER - Explore: Energy Trading Platform for Local Markets by Volue">
            <a:extLst>
              <a:ext uri="{FF2B5EF4-FFF2-40B4-BE49-F238E27FC236}">
                <a16:creationId xmlns:a16="http://schemas.microsoft.com/office/drawing/2014/main" id="{A3D75225-9A9F-D219-A013-7E9E5FCFDD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6865" y="4978742"/>
            <a:ext cx="2912075" cy="2184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8516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p:cNvGrpSpPr/>
        <p:nvPr/>
      </p:nvGrpSpPr>
      <p:grpSpPr>
        <a:xfrm>
          <a:off x="0" y="0"/>
          <a:ext cx="0" cy="0"/>
          <a:chOff x="0" y="0"/>
          <a:chExt cx="0" cy="0"/>
        </a:xfrm>
      </p:grpSpPr>
      <p:pic>
        <p:nvPicPr>
          <p:cNvPr id="1026" name="Picture 2" descr="ENER - Explore: Energy Trading Platform for Local Markets by Volue">
            <a:extLst>
              <a:ext uri="{FF2B5EF4-FFF2-40B4-BE49-F238E27FC236}">
                <a16:creationId xmlns:a16="http://schemas.microsoft.com/office/drawing/2014/main" id="{1C4634FC-5A03-7850-681C-EE18640496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6865" y="4968232"/>
            <a:ext cx="2912075" cy="218405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15D7087-9F4D-6517-5F46-75538F91DCA8}"/>
              </a:ext>
            </a:extLst>
          </p:cNvPr>
          <p:cNvSpPr>
            <a:spLocks noGrp="1"/>
          </p:cNvSpPr>
          <p:nvPr>
            <p:ph idx="1"/>
          </p:nvPr>
        </p:nvSpPr>
        <p:spPr>
          <a:xfrm>
            <a:off x="838200" y="2919248"/>
            <a:ext cx="10515600" cy="1019504"/>
          </a:xfrm>
        </p:spPr>
        <p:txBody>
          <a:bodyPr>
            <a:normAutofit/>
          </a:bodyPr>
          <a:lstStyle/>
          <a:p>
            <a:pPr marL="0" indent="0" algn="ctr">
              <a:buNone/>
            </a:pPr>
            <a:r>
              <a:rPr lang="en-CH" sz="4400" dirty="0">
                <a:solidFill>
                  <a:schemeClr val="bg1"/>
                </a:solidFill>
              </a:rPr>
              <a:t>Hot topics of this WEF?</a:t>
            </a:r>
          </a:p>
        </p:txBody>
      </p:sp>
    </p:spTree>
    <p:extLst>
      <p:ext uri="{BB962C8B-B14F-4D97-AF65-F5344CB8AC3E}">
        <p14:creationId xmlns:p14="http://schemas.microsoft.com/office/powerpoint/2010/main" val="2157081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p:cNvGrpSpPr/>
        <p:nvPr/>
      </p:nvGrpSpPr>
      <p:grpSpPr>
        <a:xfrm>
          <a:off x="0" y="0"/>
          <a:ext cx="0" cy="0"/>
          <a:chOff x="0" y="0"/>
          <a:chExt cx="0" cy="0"/>
        </a:xfrm>
      </p:grpSpPr>
      <p:pic>
        <p:nvPicPr>
          <p:cNvPr id="1026" name="Picture 2" descr="ENER - Explore: Energy Trading Platform for Local Markets by Volue">
            <a:extLst>
              <a:ext uri="{FF2B5EF4-FFF2-40B4-BE49-F238E27FC236}">
                <a16:creationId xmlns:a16="http://schemas.microsoft.com/office/drawing/2014/main" id="{1C4634FC-5A03-7850-681C-EE18640496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16865" y="4968230"/>
            <a:ext cx="2912075" cy="2184056"/>
          </a:xfrm>
          <a:prstGeom prst="rect">
            <a:avLst/>
          </a:prstGeom>
          <a:noFill/>
          <a:extLst>
            <a:ext uri="{909E8E84-426E-40DD-AFC4-6F175D3DCCD1}">
              <a14:hiddenFill xmlns:a14="http://schemas.microsoft.com/office/drawing/2010/main">
                <a:solidFill>
                  <a:srgbClr val="FFFFFF"/>
                </a:solidFill>
              </a14:hiddenFill>
            </a:ext>
          </a:extLst>
        </p:spPr>
      </p:pic>
      <p:pic>
        <p:nvPicPr>
          <p:cNvPr id="6" name="884_921__Watch Trump's full speech at World Economic Forum in Davos">
            <a:hlinkClick r:id="" action="ppaction://media"/>
            <a:extLst>
              <a:ext uri="{FF2B5EF4-FFF2-40B4-BE49-F238E27FC236}">
                <a16:creationId xmlns:a16="http://schemas.microsoft.com/office/drawing/2014/main" id="{391D26DB-FFBA-65E5-429F-B113E700DCF3}"/>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l="26715" r="30560"/>
          <a:stretch>
            <a:fillRect/>
          </a:stretch>
        </p:blipFill>
        <p:spPr>
          <a:xfrm>
            <a:off x="4359685" y="1143000"/>
            <a:ext cx="3472629" cy="4572000"/>
          </a:xfrm>
          <a:prstGeom prst="rect">
            <a:avLst/>
          </a:prstGeom>
        </p:spPr>
      </p:pic>
    </p:spTree>
    <p:extLst>
      <p:ext uri="{BB962C8B-B14F-4D97-AF65-F5344CB8AC3E}">
        <p14:creationId xmlns:p14="http://schemas.microsoft.com/office/powerpoint/2010/main" val="861056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723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a:extLst>
            <a:ext uri="{FF2B5EF4-FFF2-40B4-BE49-F238E27FC236}">
              <a16:creationId xmlns:a16="http://schemas.microsoft.com/office/drawing/2014/main" id="{743D6D21-DE62-D6FF-EC45-7EF32C0541DA}"/>
            </a:ext>
          </a:extLst>
        </p:cNvPr>
        <p:cNvGrpSpPr/>
        <p:nvPr/>
      </p:nvGrpSpPr>
      <p:grpSpPr>
        <a:xfrm>
          <a:off x="0" y="0"/>
          <a:ext cx="0" cy="0"/>
          <a:chOff x="0" y="0"/>
          <a:chExt cx="0" cy="0"/>
        </a:xfrm>
      </p:grpSpPr>
      <p:pic>
        <p:nvPicPr>
          <p:cNvPr id="1026" name="Picture 2" descr="ENER - Explore: Energy Trading Platform for Local Markets by Volue">
            <a:extLst>
              <a:ext uri="{FF2B5EF4-FFF2-40B4-BE49-F238E27FC236}">
                <a16:creationId xmlns:a16="http://schemas.microsoft.com/office/drawing/2014/main" id="{E3B00FE7-763B-AA34-8361-98171165BD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6865" y="4968232"/>
            <a:ext cx="2912075" cy="218405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B575A20-BF56-3530-3EEF-19CEC0C71759}"/>
              </a:ext>
            </a:extLst>
          </p:cNvPr>
          <p:cNvSpPr>
            <a:spLocks noGrp="1"/>
          </p:cNvSpPr>
          <p:nvPr>
            <p:ph idx="1"/>
          </p:nvPr>
        </p:nvSpPr>
        <p:spPr>
          <a:xfrm>
            <a:off x="838200" y="575441"/>
            <a:ext cx="10515600" cy="1019504"/>
          </a:xfrm>
        </p:spPr>
        <p:txBody>
          <a:bodyPr>
            <a:normAutofit/>
          </a:bodyPr>
          <a:lstStyle/>
          <a:p>
            <a:pPr marL="0" indent="0" algn="ctr">
              <a:buNone/>
            </a:pPr>
            <a:r>
              <a:rPr lang="en-CH" sz="4400" dirty="0">
                <a:solidFill>
                  <a:schemeClr val="bg1"/>
                </a:solidFill>
              </a:rPr>
              <a:t>Signal Sesonality Detrending</a:t>
            </a:r>
          </a:p>
        </p:txBody>
      </p:sp>
      <p:pic>
        <p:nvPicPr>
          <p:cNvPr id="9" name="Picture 8" descr="A graph showing a signal&#10;&#10;AI-generated content may be incorrect.">
            <a:extLst>
              <a:ext uri="{FF2B5EF4-FFF2-40B4-BE49-F238E27FC236}">
                <a16:creationId xmlns:a16="http://schemas.microsoft.com/office/drawing/2014/main" id="{134EFE97-3205-B172-2EAB-79201D4683E0}"/>
              </a:ext>
            </a:extLst>
          </p:cNvPr>
          <p:cNvPicPr>
            <a:picLocks noChangeAspect="1"/>
          </p:cNvPicPr>
          <p:nvPr/>
        </p:nvPicPr>
        <p:blipFill>
          <a:blip r:embed="rId4"/>
          <a:stretch>
            <a:fillRect/>
          </a:stretch>
        </p:blipFill>
        <p:spPr>
          <a:xfrm>
            <a:off x="936000" y="1260000"/>
            <a:ext cx="10504800" cy="5039616"/>
          </a:xfrm>
          <a:prstGeom prst="rect">
            <a:avLst/>
          </a:prstGeom>
        </p:spPr>
      </p:pic>
    </p:spTree>
    <p:extLst>
      <p:ext uri="{BB962C8B-B14F-4D97-AF65-F5344CB8AC3E}">
        <p14:creationId xmlns:p14="http://schemas.microsoft.com/office/powerpoint/2010/main" val="474815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a:extLst>
            <a:ext uri="{FF2B5EF4-FFF2-40B4-BE49-F238E27FC236}">
              <a16:creationId xmlns:a16="http://schemas.microsoft.com/office/drawing/2014/main" id="{68F7BCE4-1294-A172-0A34-D5D95CA42E39}"/>
            </a:ext>
          </a:extLst>
        </p:cNvPr>
        <p:cNvGrpSpPr/>
        <p:nvPr/>
      </p:nvGrpSpPr>
      <p:grpSpPr>
        <a:xfrm>
          <a:off x="0" y="0"/>
          <a:ext cx="0" cy="0"/>
          <a:chOff x="0" y="0"/>
          <a:chExt cx="0" cy="0"/>
        </a:xfrm>
      </p:grpSpPr>
      <p:pic>
        <p:nvPicPr>
          <p:cNvPr id="1026" name="Picture 2" descr="ENER - Explore: Energy Trading Platform for Local Markets by Volue">
            <a:extLst>
              <a:ext uri="{FF2B5EF4-FFF2-40B4-BE49-F238E27FC236}">
                <a16:creationId xmlns:a16="http://schemas.microsoft.com/office/drawing/2014/main" id="{5BFE12D8-F622-8DF9-4475-B90A66360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6865" y="4968232"/>
            <a:ext cx="2912075" cy="218405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C66B00E-F1F9-3701-E7B3-D1DAE2134F7E}"/>
              </a:ext>
            </a:extLst>
          </p:cNvPr>
          <p:cNvSpPr>
            <a:spLocks noGrp="1"/>
          </p:cNvSpPr>
          <p:nvPr>
            <p:ph idx="1"/>
          </p:nvPr>
        </p:nvSpPr>
        <p:spPr>
          <a:xfrm>
            <a:off x="838200" y="575441"/>
            <a:ext cx="10515600" cy="1019504"/>
          </a:xfrm>
        </p:spPr>
        <p:txBody>
          <a:bodyPr>
            <a:normAutofit/>
          </a:bodyPr>
          <a:lstStyle/>
          <a:p>
            <a:pPr marL="0" indent="0" algn="ctr">
              <a:buNone/>
            </a:pPr>
            <a:r>
              <a:rPr lang="en-CH" sz="4400" dirty="0">
                <a:solidFill>
                  <a:schemeClr val="bg1"/>
                </a:solidFill>
              </a:rPr>
              <a:t>Anomalies Detection</a:t>
            </a:r>
          </a:p>
        </p:txBody>
      </p:sp>
      <p:pic>
        <p:nvPicPr>
          <p:cNvPr id="4" name="Picture 3" descr="A graph with a line and numbers&#10;&#10;AI-generated content may be incorrect.">
            <a:extLst>
              <a:ext uri="{FF2B5EF4-FFF2-40B4-BE49-F238E27FC236}">
                <a16:creationId xmlns:a16="http://schemas.microsoft.com/office/drawing/2014/main" id="{94996C85-F37B-A158-E9EF-B8EC65521CE6}"/>
              </a:ext>
            </a:extLst>
          </p:cNvPr>
          <p:cNvPicPr>
            <a:picLocks noChangeAspect="1"/>
          </p:cNvPicPr>
          <p:nvPr/>
        </p:nvPicPr>
        <p:blipFill>
          <a:blip r:embed="rId4"/>
          <a:stretch>
            <a:fillRect/>
          </a:stretch>
        </p:blipFill>
        <p:spPr>
          <a:xfrm>
            <a:off x="936000" y="1260000"/>
            <a:ext cx="10505599" cy="5040000"/>
          </a:xfrm>
          <a:prstGeom prst="rect">
            <a:avLst/>
          </a:prstGeom>
        </p:spPr>
      </p:pic>
    </p:spTree>
    <p:extLst>
      <p:ext uri="{BB962C8B-B14F-4D97-AF65-F5344CB8AC3E}">
        <p14:creationId xmlns:p14="http://schemas.microsoft.com/office/powerpoint/2010/main" val="3948928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a:extLst>
            <a:ext uri="{FF2B5EF4-FFF2-40B4-BE49-F238E27FC236}">
              <a16:creationId xmlns:a16="http://schemas.microsoft.com/office/drawing/2014/main" id="{7BCE936E-040D-65DD-C149-A07371A05DA3}"/>
            </a:ext>
          </a:extLst>
        </p:cNvPr>
        <p:cNvGrpSpPr/>
        <p:nvPr/>
      </p:nvGrpSpPr>
      <p:grpSpPr>
        <a:xfrm>
          <a:off x="0" y="0"/>
          <a:ext cx="0" cy="0"/>
          <a:chOff x="0" y="0"/>
          <a:chExt cx="0" cy="0"/>
        </a:xfrm>
      </p:grpSpPr>
      <p:pic>
        <p:nvPicPr>
          <p:cNvPr id="1026" name="Picture 2" descr="ENER - Explore: Energy Trading Platform for Local Markets by Volue">
            <a:extLst>
              <a:ext uri="{FF2B5EF4-FFF2-40B4-BE49-F238E27FC236}">
                <a16:creationId xmlns:a16="http://schemas.microsoft.com/office/drawing/2014/main" id="{71C6E1CE-55DF-2688-7EF2-830FECA24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6865" y="4968232"/>
            <a:ext cx="2912075" cy="218405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032B4DF-48A6-72ED-49B2-E8DDDC55768E}"/>
              </a:ext>
            </a:extLst>
          </p:cNvPr>
          <p:cNvSpPr>
            <a:spLocks noGrp="1"/>
          </p:cNvSpPr>
          <p:nvPr>
            <p:ph idx="1"/>
          </p:nvPr>
        </p:nvSpPr>
        <p:spPr>
          <a:xfrm>
            <a:off x="838200" y="575441"/>
            <a:ext cx="10515600" cy="1019504"/>
          </a:xfrm>
        </p:spPr>
        <p:txBody>
          <a:bodyPr>
            <a:normAutofit/>
          </a:bodyPr>
          <a:lstStyle/>
          <a:p>
            <a:pPr marL="0" indent="0" algn="ctr">
              <a:buNone/>
            </a:pPr>
            <a:r>
              <a:rPr lang="en-CH" sz="4400" dirty="0">
                <a:solidFill>
                  <a:schemeClr val="bg1"/>
                </a:solidFill>
              </a:rPr>
              <a:t>Volatility Estimate</a:t>
            </a:r>
          </a:p>
        </p:txBody>
      </p:sp>
      <p:pic>
        <p:nvPicPr>
          <p:cNvPr id="4" name="Picture 3">
            <a:extLst>
              <a:ext uri="{FF2B5EF4-FFF2-40B4-BE49-F238E27FC236}">
                <a16:creationId xmlns:a16="http://schemas.microsoft.com/office/drawing/2014/main" id="{EF68E16A-172A-7C6A-481C-A96EA7000816}"/>
              </a:ext>
            </a:extLst>
          </p:cNvPr>
          <p:cNvPicPr>
            <a:picLocks noChangeAspect="1"/>
          </p:cNvPicPr>
          <p:nvPr/>
        </p:nvPicPr>
        <p:blipFill>
          <a:blip r:embed="rId4"/>
          <a:srcRect b="56666"/>
          <a:stretch>
            <a:fillRect/>
          </a:stretch>
        </p:blipFill>
        <p:spPr>
          <a:xfrm>
            <a:off x="323196" y="2035638"/>
            <a:ext cx="11545608" cy="2786723"/>
          </a:xfrm>
          <a:prstGeom prst="rect">
            <a:avLst/>
          </a:prstGeom>
        </p:spPr>
      </p:pic>
    </p:spTree>
    <p:extLst>
      <p:ext uri="{BB962C8B-B14F-4D97-AF65-F5344CB8AC3E}">
        <p14:creationId xmlns:p14="http://schemas.microsoft.com/office/powerpoint/2010/main" val="3140974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a:extLst>
            <a:ext uri="{FF2B5EF4-FFF2-40B4-BE49-F238E27FC236}">
              <a16:creationId xmlns:a16="http://schemas.microsoft.com/office/drawing/2014/main" id="{46C611F2-2ED6-DA81-E830-BC1F93626539}"/>
            </a:ext>
          </a:extLst>
        </p:cNvPr>
        <p:cNvGrpSpPr/>
        <p:nvPr/>
      </p:nvGrpSpPr>
      <p:grpSpPr>
        <a:xfrm>
          <a:off x="0" y="0"/>
          <a:ext cx="0" cy="0"/>
          <a:chOff x="0" y="0"/>
          <a:chExt cx="0" cy="0"/>
        </a:xfrm>
      </p:grpSpPr>
      <p:pic>
        <p:nvPicPr>
          <p:cNvPr id="1026" name="Picture 2" descr="ENER - Explore: Energy Trading Platform for Local Markets by Volue">
            <a:extLst>
              <a:ext uri="{FF2B5EF4-FFF2-40B4-BE49-F238E27FC236}">
                <a16:creationId xmlns:a16="http://schemas.microsoft.com/office/drawing/2014/main" id="{B37DE164-7299-BA58-B9BE-83BD96FE2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6865" y="4968232"/>
            <a:ext cx="2912075" cy="218405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30037F8-1D11-10B8-FAFD-D29B932CE1F4}"/>
              </a:ext>
            </a:extLst>
          </p:cNvPr>
          <p:cNvSpPr>
            <a:spLocks noGrp="1"/>
          </p:cNvSpPr>
          <p:nvPr>
            <p:ph idx="1"/>
          </p:nvPr>
        </p:nvSpPr>
        <p:spPr>
          <a:xfrm>
            <a:off x="838200" y="575441"/>
            <a:ext cx="10515600" cy="1019504"/>
          </a:xfrm>
        </p:spPr>
        <p:txBody>
          <a:bodyPr>
            <a:normAutofit/>
          </a:bodyPr>
          <a:lstStyle/>
          <a:p>
            <a:pPr marL="0" indent="0" algn="ctr">
              <a:buNone/>
            </a:pPr>
            <a:r>
              <a:rPr lang="en-CH" sz="4400" dirty="0">
                <a:solidFill>
                  <a:schemeClr val="bg1"/>
                </a:solidFill>
              </a:rPr>
              <a:t>Volatility Estimate</a:t>
            </a:r>
          </a:p>
        </p:txBody>
      </p:sp>
      <p:pic>
        <p:nvPicPr>
          <p:cNvPr id="8" name="Picture 7" descr="A graph of a graph of a graph&#10;&#10;AI-generated content may be incorrect.">
            <a:extLst>
              <a:ext uri="{FF2B5EF4-FFF2-40B4-BE49-F238E27FC236}">
                <a16:creationId xmlns:a16="http://schemas.microsoft.com/office/drawing/2014/main" id="{945C2E6D-C51E-715A-BDF7-CF1BD043B4D9}"/>
              </a:ext>
            </a:extLst>
          </p:cNvPr>
          <p:cNvPicPr>
            <a:picLocks noChangeAspect="1"/>
          </p:cNvPicPr>
          <p:nvPr/>
        </p:nvPicPr>
        <p:blipFill>
          <a:blip r:embed="rId4"/>
          <a:stretch>
            <a:fillRect/>
          </a:stretch>
        </p:blipFill>
        <p:spPr>
          <a:xfrm>
            <a:off x="936000" y="1260000"/>
            <a:ext cx="10505600" cy="5040000"/>
          </a:xfrm>
          <a:prstGeom prst="rect">
            <a:avLst/>
          </a:prstGeom>
        </p:spPr>
      </p:pic>
    </p:spTree>
    <p:extLst>
      <p:ext uri="{BB962C8B-B14F-4D97-AF65-F5344CB8AC3E}">
        <p14:creationId xmlns:p14="http://schemas.microsoft.com/office/powerpoint/2010/main" val="3140531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a:extLst>
            <a:ext uri="{FF2B5EF4-FFF2-40B4-BE49-F238E27FC236}">
              <a16:creationId xmlns:a16="http://schemas.microsoft.com/office/drawing/2014/main" id="{B76FD3A4-4FF3-3691-2131-3493D5C40E93}"/>
            </a:ext>
          </a:extLst>
        </p:cNvPr>
        <p:cNvGrpSpPr/>
        <p:nvPr/>
      </p:nvGrpSpPr>
      <p:grpSpPr>
        <a:xfrm>
          <a:off x="0" y="0"/>
          <a:ext cx="0" cy="0"/>
          <a:chOff x="0" y="0"/>
          <a:chExt cx="0" cy="0"/>
        </a:xfrm>
      </p:grpSpPr>
      <p:pic>
        <p:nvPicPr>
          <p:cNvPr id="1026" name="Picture 2" descr="ENER - Explore: Energy Trading Platform for Local Markets by Volue">
            <a:extLst>
              <a:ext uri="{FF2B5EF4-FFF2-40B4-BE49-F238E27FC236}">
                <a16:creationId xmlns:a16="http://schemas.microsoft.com/office/drawing/2014/main" id="{2184437A-F4E1-323D-2A49-D454F6F758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6865" y="4968232"/>
            <a:ext cx="2912075" cy="218405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3D5D3DC-38CE-8326-80D2-5ACF4D3AB845}"/>
              </a:ext>
            </a:extLst>
          </p:cNvPr>
          <p:cNvSpPr>
            <a:spLocks noGrp="1"/>
          </p:cNvSpPr>
          <p:nvPr>
            <p:ph idx="1"/>
          </p:nvPr>
        </p:nvSpPr>
        <p:spPr>
          <a:xfrm>
            <a:off x="838200" y="575441"/>
            <a:ext cx="10515600" cy="1019504"/>
          </a:xfrm>
        </p:spPr>
        <p:txBody>
          <a:bodyPr>
            <a:normAutofit/>
          </a:bodyPr>
          <a:lstStyle/>
          <a:p>
            <a:pPr marL="0" indent="0" algn="ctr">
              <a:buNone/>
            </a:pPr>
            <a:r>
              <a:rPr lang="en-CH" sz="4400" dirty="0">
                <a:solidFill>
                  <a:schemeClr val="bg1"/>
                </a:solidFill>
              </a:rPr>
              <a:t>Ask Me Anything AI Agent</a:t>
            </a:r>
          </a:p>
        </p:txBody>
      </p:sp>
      <p:pic>
        <p:nvPicPr>
          <p:cNvPr id="4" name="Picture 3" descr="A screenshot of a graph&#10;&#10;AI-generated content may be incorrect.">
            <a:extLst>
              <a:ext uri="{FF2B5EF4-FFF2-40B4-BE49-F238E27FC236}">
                <a16:creationId xmlns:a16="http://schemas.microsoft.com/office/drawing/2014/main" id="{8AF4530D-D395-9683-793E-655FE2458083}"/>
              </a:ext>
            </a:extLst>
          </p:cNvPr>
          <p:cNvPicPr>
            <a:picLocks noChangeAspect="1"/>
          </p:cNvPicPr>
          <p:nvPr/>
        </p:nvPicPr>
        <p:blipFill>
          <a:blip r:embed="rId4"/>
          <a:stretch>
            <a:fillRect/>
          </a:stretch>
        </p:blipFill>
        <p:spPr>
          <a:xfrm>
            <a:off x="5543991" y="1323933"/>
            <a:ext cx="3895662" cy="5306619"/>
          </a:xfrm>
          <a:prstGeom prst="rect">
            <a:avLst/>
          </a:prstGeom>
        </p:spPr>
      </p:pic>
      <p:pic>
        <p:nvPicPr>
          <p:cNvPr id="6" name="Picture 5" descr="A screenshot of a chat&#10;&#10;AI-generated content may be incorrect.">
            <a:extLst>
              <a:ext uri="{FF2B5EF4-FFF2-40B4-BE49-F238E27FC236}">
                <a16:creationId xmlns:a16="http://schemas.microsoft.com/office/drawing/2014/main" id="{93E205CE-50FC-3DF1-2D60-A70B3DB34686}"/>
              </a:ext>
            </a:extLst>
          </p:cNvPr>
          <p:cNvPicPr>
            <a:picLocks noChangeAspect="1"/>
          </p:cNvPicPr>
          <p:nvPr/>
        </p:nvPicPr>
        <p:blipFill>
          <a:blip r:embed="rId5"/>
          <a:stretch>
            <a:fillRect/>
          </a:stretch>
        </p:blipFill>
        <p:spPr>
          <a:xfrm>
            <a:off x="951683" y="1323933"/>
            <a:ext cx="4021766" cy="5306619"/>
          </a:xfrm>
          <a:prstGeom prst="rect">
            <a:avLst/>
          </a:prstGeom>
        </p:spPr>
      </p:pic>
    </p:spTree>
    <p:extLst>
      <p:ext uri="{BB962C8B-B14F-4D97-AF65-F5344CB8AC3E}">
        <p14:creationId xmlns:p14="http://schemas.microsoft.com/office/powerpoint/2010/main" val="1866263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a:extLst>
            <a:ext uri="{FF2B5EF4-FFF2-40B4-BE49-F238E27FC236}">
              <a16:creationId xmlns:a16="http://schemas.microsoft.com/office/drawing/2014/main" id="{EEFBA513-8456-FC30-6C48-F7BA2AD81CF4}"/>
            </a:ext>
          </a:extLst>
        </p:cNvPr>
        <p:cNvGrpSpPr/>
        <p:nvPr/>
      </p:nvGrpSpPr>
      <p:grpSpPr>
        <a:xfrm>
          <a:off x="0" y="0"/>
          <a:ext cx="0" cy="0"/>
          <a:chOff x="0" y="0"/>
          <a:chExt cx="0" cy="0"/>
        </a:xfrm>
      </p:grpSpPr>
      <p:pic>
        <p:nvPicPr>
          <p:cNvPr id="1026" name="Picture 2" descr="ENER - Explore: Energy Trading Platform for Local Markets by Volue">
            <a:extLst>
              <a:ext uri="{FF2B5EF4-FFF2-40B4-BE49-F238E27FC236}">
                <a16:creationId xmlns:a16="http://schemas.microsoft.com/office/drawing/2014/main" id="{7C4E4E62-6A98-A0E8-1187-F196C309EF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6865" y="4968232"/>
            <a:ext cx="2912075" cy="218405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7E274F1-EC05-4D38-D78B-CE76B140D310}"/>
              </a:ext>
            </a:extLst>
          </p:cNvPr>
          <p:cNvSpPr>
            <a:spLocks noGrp="1"/>
          </p:cNvSpPr>
          <p:nvPr>
            <p:ph idx="1"/>
          </p:nvPr>
        </p:nvSpPr>
        <p:spPr>
          <a:xfrm>
            <a:off x="838200" y="2919248"/>
            <a:ext cx="10515600" cy="1019504"/>
          </a:xfrm>
        </p:spPr>
        <p:txBody>
          <a:bodyPr>
            <a:normAutofit/>
          </a:bodyPr>
          <a:lstStyle/>
          <a:p>
            <a:pPr marL="0" indent="0" algn="ctr">
              <a:buNone/>
            </a:pPr>
            <a:r>
              <a:rPr lang="en-CH" sz="4400" dirty="0">
                <a:solidFill>
                  <a:schemeClr val="bg1"/>
                </a:solidFill>
              </a:rPr>
              <a:t>But… Hot topics of this WEF?</a:t>
            </a:r>
          </a:p>
        </p:txBody>
      </p:sp>
    </p:spTree>
    <p:extLst>
      <p:ext uri="{BB962C8B-B14F-4D97-AF65-F5344CB8AC3E}">
        <p14:creationId xmlns:p14="http://schemas.microsoft.com/office/powerpoint/2010/main" val="2808963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p:cNvGrpSpPr/>
        <p:nvPr/>
      </p:nvGrpSpPr>
      <p:grpSpPr>
        <a:xfrm>
          <a:off x="0" y="0"/>
          <a:ext cx="0" cy="0"/>
          <a:chOff x="0" y="0"/>
          <a:chExt cx="0" cy="0"/>
        </a:xfrm>
      </p:grpSpPr>
      <p:pic>
        <p:nvPicPr>
          <p:cNvPr id="1026" name="Picture 2" descr="ENER - Explore: Energy Trading Platform for Local Markets by Volue">
            <a:extLst>
              <a:ext uri="{FF2B5EF4-FFF2-40B4-BE49-F238E27FC236}">
                <a16:creationId xmlns:a16="http://schemas.microsoft.com/office/drawing/2014/main" id="{1C4634FC-5A03-7850-681C-EE18640496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16865" y="4968230"/>
            <a:ext cx="2912075" cy="2184056"/>
          </a:xfrm>
          <a:prstGeom prst="rect">
            <a:avLst/>
          </a:prstGeom>
          <a:noFill/>
          <a:extLst>
            <a:ext uri="{909E8E84-426E-40DD-AFC4-6F175D3DCCD1}">
              <a14:hiddenFill xmlns:a14="http://schemas.microsoft.com/office/drawing/2010/main">
                <a:solidFill>
                  <a:srgbClr val="FFFFFF"/>
                </a:solidFill>
              </a14:hiddenFill>
            </a:ext>
          </a:extLst>
        </p:spPr>
      </p:pic>
      <p:pic>
        <p:nvPicPr>
          <p:cNvPr id="5" name="1236_1262__Special Address by Emmanuel Macron, President of France | World Economic Forum Annual Meeting 2026">
            <a:hlinkClick r:id="" action="ppaction://media"/>
            <a:extLst>
              <a:ext uri="{FF2B5EF4-FFF2-40B4-BE49-F238E27FC236}">
                <a16:creationId xmlns:a16="http://schemas.microsoft.com/office/drawing/2014/main" id="{4BDFD473-494A-A2DA-543F-C6DF5197B472}"/>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6"/>
          <a:srcRect l="25266" t="5644" r="34517"/>
          <a:stretch>
            <a:fillRect/>
          </a:stretch>
        </p:blipFill>
        <p:spPr>
          <a:xfrm>
            <a:off x="4359600" y="1144800"/>
            <a:ext cx="3472629" cy="4582934"/>
          </a:xfrm>
        </p:spPr>
      </p:pic>
    </p:spTree>
    <p:extLst>
      <p:ext uri="{BB962C8B-B14F-4D97-AF65-F5344CB8AC3E}">
        <p14:creationId xmlns:p14="http://schemas.microsoft.com/office/powerpoint/2010/main" val="4265557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06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a:extLst>
            <a:ext uri="{FF2B5EF4-FFF2-40B4-BE49-F238E27FC236}">
              <a16:creationId xmlns:a16="http://schemas.microsoft.com/office/drawing/2014/main" id="{566F05C8-00AE-94D6-D763-81016F48BBE2}"/>
            </a:ext>
          </a:extLst>
        </p:cNvPr>
        <p:cNvGrpSpPr/>
        <p:nvPr/>
      </p:nvGrpSpPr>
      <p:grpSpPr>
        <a:xfrm>
          <a:off x="0" y="0"/>
          <a:ext cx="0" cy="0"/>
          <a:chOff x="0" y="0"/>
          <a:chExt cx="0" cy="0"/>
        </a:xfrm>
      </p:grpSpPr>
      <p:pic>
        <p:nvPicPr>
          <p:cNvPr id="1026" name="Picture 2" descr="ENER - Explore: Energy Trading Platform for Local Markets by Volue">
            <a:extLst>
              <a:ext uri="{FF2B5EF4-FFF2-40B4-BE49-F238E27FC236}">
                <a16:creationId xmlns:a16="http://schemas.microsoft.com/office/drawing/2014/main" id="{793136C7-69BC-A144-54FC-6D47EF29D4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6865" y="4968232"/>
            <a:ext cx="2912075" cy="218405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C7406BF-CE65-5C42-D5A6-49B12D7A0D56}"/>
              </a:ext>
            </a:extLst>
          </p:cNvPr>
          <p:cNvSpPr>
            <a:spLocks noGrp="1"/>
          </p:cNvSpPr>
          <p:nvPr>
            <p:ph idx="1"/>
          </p:nvPr>
        </p:nvSpPr>
        <p:spPr>
          <a:xfrm>
            <a:off x="838200" y="575441"/>
            <a:ext cx="10515600" cy="1019504"/>
          </a:xfrm>
        </p:spPr>
        <p:txBody>
          <a:bodyPr>
            <a:normAutofit/>
          </a:bodyPr>
          <a:lstStyle/>
          <a:p>
            <a:pPr marL="0" indent="0" algn="ctr">
              <a:buNone/>
            </a:pPr>
            <a:r>
              <a:rPr lang="en-CH" sz="4400" dirty="0">
                <a:solidFill>
                  <a:schemeClr val="bg1"/>
                </a:solidFill>
              </a:rPr>
              <a:t>Energy Consumption Trends</a:t>
            </a:r>
          </a:p>
        </p:txBody>
      </p:sp>
      <p:pic>
        <p:nvPicPr>
          <p:cNvPr id="6" name="Picture 5" descr="A graph of a number of data&#10;&#10;AI-generated content may be incorrect.">
            <a:extLst>
              <a:ext uri="{FF2B5EF4-FFF2-40B4-BE49-F238E27FC236}">
                <a16:creationId xmlns:a16="http://schemas.microsoft.com/office/drawing/2014/main" id="{6AA489F9-3EE9-79C6-D4DA-0E1AB3A9EB25}"/>
              </a:ext>
            </a:extLst>
          </p:cNvPr>
          <p:cNvPicPr>
            <a:picLocks noChangeAspect="1"/>
          </p:cNvPicPr>
          <p:nvPr/>
        </p:nvPicPr>
        <p:blipFill>
          <a:blip r:embed="rId4"/>
          <a:stretch>
            <a:fillRect/>
          </a:stretch>
        </p:blipFill>
        <p:spPr>
          <a:xfrm>
            <a:off x="3060101" y="1352807"/>
            <a:ext cx="5491851" cy="4929752"/>
          </a:xfrm>
          <a:prstGeom prst="rect">
            <a:avLst/>
          </a:prstGeom>
        </p:spPr>
      </p:pic>
    </p:spTree>
    <p:extLst>
      <p:ext uri="{BB962C8B-B14F-4D97-AF65-F5344CB8AC3E}">
        <p14:creationId xmlns:p14="http://schemas.microsoft.com/office/powerpoint/2010/main" val="12436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2A33"/>
        </a:solidFill>
        <a:effectLst/>
      </p:bgPr>
    </p:bg>
    <p:spTree>
      <p:nvGrpSpPr>
        <p:cNvPr id="1" name="">
          <a:extLst>
            <a:ext uri="{FF2B5EF4-FFF2-40B4-BE49-F238E27FC236}">
              <a16:creationId xmlns:a16="http://schemas.microsoft.com/office/drawing/2014/main" id="{ACC5E5D6-7821-D890-1830-AB9D05C0DEE7}"/>
            </a:ext>
          </a:extLst>
        </p:cNvPr>
        <p:cNvGrpSpPr/>
        <p:nvPr/>
      </p:nvGrpSpPr>
      <p:grpSpPr>
        <a:xfrm>
          <a:off x="0" y="0"/>
          <a:ext cx="0" cy="0"/>
          <a:chOff x="0" y="0"/>
          <a:chExt cx="0" cy="0"/>
        </a:xfrm>
      </p:grpSpPr>
      <p:pic>
        <p:nvPicPr>
          <p:cNvPr id="1026" name="Picture 2" descr="ENER - Explore: Energy Trading Platform for Local Markets by Volue">
            <a:extLst>
              <a:ext uri="{FF2B5EF4-FFF2-40B4-BE49-F238E27FC236}">
                <a16:creationId xmlns:a16="http://schemas.microsoft.com/office/drawing/2014/main" id="{76CFD4BC-8B0D-4068-E12B-4455151D1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6865" y="4968232"/>
            <a:ext cx="2912075" cy="218405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39647CF-B2D9-6D94-506A-45B323A9CA76}"/>
              </a:ext>
            </a:extLst>
          </p:cNvPr>
          <p:cNvSpPr>
            <a:spLocks noGrp="1"/>
          </p:cNvSpPr>
          <p:nvPr>
            <p:ph idx="1"/>
          </p:nvPr>
        </p:nvSpPr>
        <p:spPr>
          <a:xfrm>
            <a:off x="838200" y="575441"/>
            <a:ext cx="10515600" cy="1019504"/>
          </a:xfrm>
        </p:spPr>
        <p:txBody>
          <a:bodyPr>
            <a:normAutofit/>
          </a:bodyPr>
          <a:lstStyle/>
          <a:p>
            <a:pPr marL="0" indent="0" algn="ctr">
              <a:buNone/>
            </a:pPr>
            <a:r>
              <a:rPr lang="en-CH" sz="4400" dirty="0">
                <a:solidFill>
                  <a:schemeClr val="bg1"/>
                </a:solidFill>
              </a:rPr>
              <a:t>Energy Consumption Trends</a:t>
            </a:r>
          </a:p>
        </p:txBody>
      </p:sp>
      <p:sp>
        <p:nvSpPr>
          <p:cNvPr id="5" name="Oval 4">
            <a:extLst>
              <a:ext uri="{FF2B5EF4-FFF2-40B4-BE49-F238E27FC236}">
                <a16:creationId xmlns:a16="http://schemas.microsoft.com/office/drawing/2014/main" id="{95F00A9B-A8B4-4621-75FD-5C0378C48D9B}"/>
              </a:ext>
            </a:extLst>
          </p:cNvPr>
          <p:cNvSpPr/>
          <p:nvPr/>
        </p:nvSpPr>
        <p:spPr>
          <a:xfrm>
            <a:off x="2653990" y="2319454"/>
            <a:ext cx="2877015" cy="28101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H" sz="2800" b="1"/>
              <a:t>72%</a:t>
            </a:r>
            <a:endParaRPr lang="it-IT" sz="2800" b="1"/>
          </a:p>
        </p:txBody>
      </p:sp>
      <p:sp>
        <p:nvSpPr>
          <p:cNvPr id="7" name="Oval 6">
            <a:extLst>
              <a:ext uri="{FF2B5EF4-FFF2-40B4-BE49-F238E27FC236}">
                <a16:creationId xmlns:a16="http://schemas.microsoft.com/office/drawing/2014/main" id="{FEB75A00-FF8F-4CA0-A73B-B0933F6DB4AE}"/>
              </a:ext>
            </a:extLst>
          </p:cNvPr>
          <p:cNvSpPr/>
          <p:nvPr/>
        </p:nvSpPr>
        <p:spPr>
          <a:xfrm>
            <a:off x="6660995" y="2348456"/>
            <a:ext cx="2877015" cy="2810107"/>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sz="2800" b="1">
                <a:solidFill>
                  <a:srgbClr val="FFFFFF"/>
                </a:solidFill>
                <a:latin typeface="Aptos"/>
              </a:rPr>
              <a:t>28</a:t>
            </a:r>
            <a:r>
              <a:rPr lang="it-IT" sz="2800" b="1" baseline="0">
                <a:solidFill>
                  <a:srgbClr val="FFFFFF"/>
                </a:solidFill>
                <a:latin typeface="Aptos"/>
              </a:rPr>
              <a:t>%</a:t>
            </a:r>
            <a:r>
              <a:rPr lang="it-IT" sz="2800">
                <a:latin typeface="Aptos"/>
                <a:ea typeface="Aptos"/>
                <a:cs typeface="Aptos"/>
              </a:rPr>
              <a:t>​</a:t>
            </a:r>
            <a:endParaRPr lang="en-CH" dirty="0"/>
          </a:p>
        </p:txBody>
      </p:sp>
      <p:sp>
        <p:nvSpPr>
          <p:cNvPr id="9" name="TextBox 8">
            <a:extLst>
              <a:ext uri="{FF2B5EF4-FFF2-40B4-BE49-F238E27FC236}">
                <a16:creationId xmlns:a16="http://schemas.microsoft.com/office/drawing/2014/main" id="{2CFD873D-5D93-2AEE-E248-BB00A5CB541F}"/>
              </a:ext>
            </a:extLst>
          </p:cNvPr>
          <p:cNvSpPr txBox="1"/>
          <p:nvPr/>
        </p:nvSpPr>
        <p:spPr>
          <a:xfrm>
            <a:off x="7403138" y="5436569"/>
            <a:ext cx="1824333" cy="461665"/>
          </a:xfrm>
          <a:prstGeom prst="rect">
            <a:avLst/>
          </a:prstGeom>
          <a:noFill/>
        </p:spPr>
        <p:txBody>
          <a:bodyPr wrap="square" lIns="91440" tIns="45720" rIns="91440" bIns="45720" anchor="t">
            <a:spAutoFit/>
          </a:bodyPr>
          <a:lstStyle/>
          <a:p>
            <a:pPr algn="ctr"/>
            <a:r>
              <a:rPr lang="en-CH" sz="2400">
                <a:solidFill>
                  <a:schemeClr val="bg1"/>
                </a:solidFill>
              </a:rPr>
              <a:t>On-Premise</a:t>
            </a:r>
          </a:p>
        </p:txBody>
      </p:sp>
      <p:sp>
        <p:nvSpPr>
          <p:cNvPr id="2" name="TextBox 8">
            <a:extLst>
              <a:ext uri="{FF2B5EF4-FFF2-40B4-BE49-F238E27FC236}">
                <a16:creationId xmlns:a16="http://schemas.microsoft.com/office/drawing/2014/main" id="{BAA89E41-DE1D-C03E-C7C7-A97D961B4924}"/>
              </a:ext>
            </a:extLst>
          </p:cNvPr>
          <p:cNvSpPr txBox="1"/>
          <p:nvPr/>
        </p:nvSpPr>
        <p:spPr>
          <a:xfrm>
            <a:off x="3398801" y="5436569"/>
            <a:ext cx="1394750" cy="461665"/>
          </a:xfrm>
          <a:prstGeom prst="rect">
            <a:avLst/>
          </a:prstGeom>
          <a:noFill/>
        </p:spPr>
        <p:txBody>
          <a:bodyPr wrap="square" lIns="91440" tIns="45720" rIns="91440" bIns="45720" anchor="t">
            <a:spAutoFit/>
          </a:bodyPr>
          <a:lstStyle/>
          <a:p>
            <a:pPr algn="ctr"/>
            <a:r>
              <a:rPr lang="en-CH" sz="2400">
                <a:solidFill>
                  <a:schemeClr val="bg1"/>
                </a:solidFill>
              </a:rPr>
              <a:t>Cloud</a:t>
            </a:r>
          </a:p>
        </p:txBody>
      </p:sp>
    </p:spTree>
    <p:extLst>
      <p:ext uri="{BB962C8B-B14F-4D97-AF65-F5344CB8AC3E}">
        <p14:creationId xmlns:p14="http://schemas.microsoft.com/office/powerpoint/2010/main" val="2037661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TotalTime>
  <Words>422</Words>
  <Application>Microsoft Macintosh PowerPoint</Application>
  <PresentationFormat>Widescreen</PresentationFormat>
  <Paragraphs>37</Paragraphs>
  <Slides>12</Slides>
  <Notes>11</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ENERGY MARKET  SIGNAL INTELLIGECE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Leidi, Mauro Lorenzo Emanuele (STUDENTS)</dc:creator>
  <cp:lastModifiedBy>Leidi, Mauro Lorenzo Emanuele (STUDENTS)</cp:lastModifiedBy>
  <cp:revision>2</cp:revision>
  <dcterms:created xsi:type="dcterms:W3CDTF">2026-01-22T08:33:03Z</dcterms:created>
  <dcterms:modified xsi:type="dcterms:W3CDTF">2026-01-22T10:59:32Z</dcterms:modified>
</cp:coreProperties>
</file>